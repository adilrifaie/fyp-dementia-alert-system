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C3489"/>
        </a:solidFill>
      </p:bgPr>
    </p:bg>
    <p:spTree>
      <p:nvGrpSpPr>
        <p:cNvPr id="1" name=""/>
        <p:cNvGrpSpPr/>
        <p:nvPr/>
      </p:nvGrpSpPr>
      <p:grpSpPr>
        <a:xfrm>
          <a:off x="0" y="0"/>
          <a:ext cx="0" cy="0"/>
          <a:chOff x="0" y="0"/>
          <a:chExt cx="0" cy="0"/>
        </a:xfrm>
      </p:grpSpPr>
      <p:sp>
        <p:nvSpPr>
          <p:cNvPr id="2" name="Text 0"/>
          <p:cNvSpPr/>
          <p:nvPr/>
        </p:nvSpPr>
        <p:spPr>
          <a:xfrm>
            <a:off x="365760" y="182880"/>
            <a:ext cx="8412480" cy="274320"/>
          </a:xfrm>
          <a:prstGeom prst="rect">
            <a:avLst/>
          </a:prstGeom>
          <a:noFill/>
          <a:ln/>
        </p:spPr>
        <p:txBody>
          <a:bodyPr wrap="square" lIns="0" tIns="0" rIns="0" bIns="0" rtlCol="0" anchor="ctr"/>
          <a:lstStyle/>
          <a:p>
            <a:pPr indent="0" marL="0">
              <a:buNone/>
            </a:pPr>
            <a:r>
              <a:rPr lang="en-US" sz="1300" dirty="0">
                <a:solidFill>
                  <a:srgbClr val="CECBF6"/>
                </a:solidFill>
                <a:latin typeface="Arial" pitchFamily="34" charset="0"/>
                <a:ea typeface="Arial" pitchFamily="34" charset="-122"/>
                <a:cs typeface="Arial" pitchFamily="34" charset="-120"/>
              </a:rPr>
              <a:t>Samsun Üniversitesi · Mühendislik ve Doğa Bilimleri Fakültesi</a:t>
            </a:r>
            <a:endParaRPr lang="en-US" sz="1300" dirty="0"/>
          </a:p>
        </p:txBody>
      </p:sp>
      <p:sp>
        <p:nvSpPr>
          <p:cNvPr id="3" name="Text 1"/>
          <p:cNvSpPr/>
          <p:nvPr/>
        </p:nvSpPr>
        <p:spPr>
          <a:xfrm>
            <a:off x="365760" y="411480"/>
            <a:ext cx="8412480" cy="274320"/>
          </a:xfrm>
          <a:prstGeom prst="rect">
            <a:avLst/>
          </a:prstGeom>
          <a:noFill/>
          <a:ln/>
        </p:spPr>
        <p:txBody>
          <a:bodyPr wrap="square" lIns="0" tIns="0" rIns="0" bIns="0" rtlCol="0" anchor="ctr"/>
          <a:lstStyle/>
          <a:p>
            <a:pPr indent="0" marL="0">
              <a:buNone/>
            </a:pPr>
            <a:r>
              <a:rPr lang="en-US" sz="1300" dirty="0">
                <a:solidFill>
                  <a:srgbClr val="CECBF6"/>
                </a:solidFill>
                <a:latin typeface="Arial" pitchFamily="34" charset="0"/>
                <a:ea typeface="Arial" pitchFamily="34" charset="-122"/>
                <a:cs typeface="Arial" pitchFamily="34" charset="-120"/>
              </a:rPr>
              <a:t>YZM310 Bitirme Projesi 1 — 2025/2026</a:t>
            </a:r>
            <a:endParaRPr lang="en-US" sz="1300" dirty="0"/>
          </a:p>
        </p:txBody>
      </p:sp>
      <p:sp>
        <p:nvSpPr>
          <p:cNvPr id="4" name="Text 2"/>
          <p:cNvSpPr/>
          <p:nvPr/>
        </p:nvSpPr>
        <p:spPr>
          <a:xfrm>
            <a:off x="365760" y="822960"/>
            <a:ext cx="8412480" cy="1645920"/>
          </a:xfrm>
          <a:prstGeom prst="rect">
            <a:avLst/>
          </a:prstGeom>
          <a:noFill/>
          <a:ln/>
        </p:spPr>
        <p:txBody>
          <a:bodyPr wrap="square" lIns="0" tIns="0" rIns="0" bIns="0" rtlCol="0" anchor="ctr"/>
          <a:lstStyle/>
          <a:p>
            <a:pPr indent="0" marL="0">
              <a:buNone/>
            </a:pPr>
            <a:r>
              <a:rPr lang="en-US" sz="9600" b="1" dirty="0">
                <a:solidFill>
                  <a:srgbClr val="FFFFFF"/>
                </a:solidFill>
                <a:latin typeface="Arial" pitchFamily="34" charset="0"/>
                <a:ea typeface="Arial" pitchFamily="34" charset="-122"/>
                <a:cs typeface="Arial" pitchFamily="34" charset="-120"/>
              </a:rPr>
              <a:t>DementIQ</a:t>
            </a:r>
            <a:endParaRPr lang="en-US" sz="9600" dirty="0"/>
          </a:p>
        </p:txBody>
      </p:sp>
      <p:sp>
        <p:nvSpPr>
          <p:cNvPr id="5" name="Text 3"/>
          <p:cNvSpPr/>
          <p:nvPr/>
        </p:nvSpPr>
        <p:spPr>
          <a:xfrm>
            <a:off x="365760" y="2468880"/>
            <a:ext cx="8229600" cy="502920"/>
          </a:xfrm>
          <a:prstGeom prst="rect">
            <a:avLst/>
          </a:prstGeom>
          <a:noFill/>
          <a:ln/>
        </p:spPr>
        <p:txBody>
          <a:bodyPr wrap="square" lIns="0" tIns="0" rIns="0" bIns="0" rtlCol="0" anchor="ctr"/>
          <a:lstStyle/>
          <a:p>
            <a:pPr indent="0" marL="0">
              <a:buNone/>
            </a:pPr>
            <a:r>
              <a:rPr lang="en-US" sz="2200" i="1" dirty="0">
                <a:solidFill>
                  <a:srgbClr val="CECBF6"/>
                </a:solidFill>
                <a:latin typeface="Arial" pitchFamily="34" charset="0"/>
                <a:ea typeface="Arial" pitchFamily="34" charset="-122"/>
                <a:cs typeface="Arial" pitchFamily="34" charset="-120"/>
              </a:rPr>
              <a:t>Bakımda farkındalık, önce gelir.</a:t>
            </a:r>
            <a:endParaRPr lang="en-US" sz="2200" dirty="0"/>
          </a:p>
        </p:txBody>
      </p:sp>
      <p:sp>
        <p:nvSpPr>
          <p:cNvPr id="6" name="Text 4"/>
          <p:cNvSpPr/>
          <p:nvPr/>
        </p:nvSpPr>
        <p:spPr>
          <a:xfrm>
            <a:off x="365760" y="3063240"/>
            <a:ext cx="7772400" cy="822960"/>
          </a:xfrm>
          <a:prstGeom prst="rect">
            <a:avLst/>
          </a:prstGeom>
          <a:noFill/>
          <a:ln/>
        </p:spPr>
        <p:txBody>
          <a:bodyPr wrap="square" lIns="0" tIns="0" rIns="0" bIns="0" rtlCol="0" anchor="ctr"/>
          <a:lstStyle/>
          <a:p>
            <a:pPr indent="0" marL="0">
              <a:buNone/>
            </a:pPr>
            <a:r>
              <a:rPr lang="en-US" sz="1500" i="1" dirty="0">
                <a:solidFill>
                  <a:srgbClr val="CECBF6"/>
                </a:solidFill>
                <a:latin typeface="Arial" pitchFamily="34" charset="0"/>
                <a:ea typeface="Arial" pitchFamily="34" charset="-122"/>
                <a:cs typeface="Arial" pitchFamily="34" charset="-120"/>
              </a:rPr>
              <a:t>"Günlük ev sensörü verisi, demans hastalarındaki ajitasyon riskini klinik müdahale gerektirmeden önce tespit etmek için yeterli sinyal taşır."</a:t>
            </a:r>
            <a:endParaRPr lang="en-US" sz="1500" dirty="0"/>
          </a:p>
        </p:txBody>
      </p:sp>
      <p:sp>
        <p:nvSpPr>
          <p:cNvPr id="7" name="Text 5"/>
          <p:cNvSpPr/>
          <p:nvPr/>
        </p:nvSpPr>
        <p:spPr>
          <a:xfrm>
            <a:off x="365760" y="3977640"/>
            <a:ext cx="8412480" cy="25603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Danışman: Dr. Öğr. Üyesi Nurettin ŞENYER</a:t>
            </a:r>
            <a:endParaRPr lang="en-US" sz="1400" dirty="0"/>
          </a:p>
        </p:txBody>
      </p:sp>
      <p:sp>
        <p:nvSpPr>
          <p:cNvPr id="8" name="Text 6"/>
          <p:cNvSpPr/>
          <p:nvPr/>
        </p:nvSpPr>
        <p:spPr>
          <a:xfrm>
            <a:off x="365760" y="4251960"/>
            <a:ext cx="8412480" cy="256032"/>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Öğrenci: Nik Adil Rifaie Bin Nik Rusydan · 9221118097</a:t>
            </a:r>
            <a:endParaRPr lang="en-US" sz="1400" dirty="0"/>
          </a:p>
        </p:txBody>
      </p:sp>
      <p:sp>
        <p:nvSpPr>
          <p:cNvPr id="9" name="Text 7"/>
          <p:cNvSpPr/>
          <p:nvPr/>
        </p:nvSpPr>
        <p:spPr>
          <a:xfrm>
            <a:off x="365760" y="4663440"/>
            <a:ext cx="8412480" cy="256032"/>
          </a:xfrm>
          <a:prstGeom prst="rect">
            <a:avLst/>
          </a:prstGeom>
          <a:noFill/>
          <a:ln/>
        </p:spPr>
        <p:txBody>
          <a:bodyPr wrap="square" lIns="0" tIns="0" rIns="0" bIns="0" rtlCol="0" anchor="ctr"/>
          <a:lstStyle/>
          <a:p>
            <a:pPr indent="0" marL="0">
              <a:buNone/>
            </a:pPr>
            <a:r>
              <a:rPr lang="en-US" sz="1200" dirty="0">
                <a:solidFill>
                  <a:srgbClr val="7F77DD"/>
                </a:solidFill>
                <a:latin typeface="Arial" pitchFamily="34" charset="0"/>
                <a:ea typeface="Arial" pitchFamily="34" charset="-122"/>
                <a:cs typeface="Arial" pitchFamily="34" charset="-120"/>
              </a:rPr>
              <a:t>github.com/adilrifaie/fyp-dementia-alert-system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EDFE"/>
        </a:solidFill>
      </p:bgPr>
    </p:bg>
    <p:spTree>
      <p:nvGrpSpPr>
        <p:cNvPr id="1" name=""/>
        <p:cNvGrpSpPr/>
        <p:nvPr/>
      </p:nvGrpSpPr>
      <p:grpSpPr>
        <a:xfrm>
          <a:off x="0" y="0"/>
          <a:ext cx="0" cy="0"/>
          <a:chOff x="0" y="0"/>
          <a:chExt cx="0" cy="0"/>
        </a:xfrm>
      </p:grpSpPr>
      <p:sp>
        <p:nvSpPr>
          <p:cNvPr id="2" name="Shape 0"/>
          <p:cNvSpPr/>
          <p:nvPr/>
        </p:nvSpPr>
        <p:spPr>
          <a:xfrm>
            <a:off x="0" y="0"/>
            <a:ext cx="9144000" cy="1417320"/>
          </a:xfrm>
          <a:prstGeom prst="rect">
            <a:avLst/>
          </a:prstGeom>
          <a:solidFill>
            <a:srgbClr val="3C3489"/>
          </a:solidFill>
          <a:ln w="12700">
            <a:solidFill>
              <a:srgbClr val="3C3489"/>
            </a:solidFill>
            <a:prstDash val="solid"/>
          </a:ln>
        </p:spPr>
      </p:sp>
      <p:sp>
        <p:nvSpPr>
          <p:cNvPr id="3" name="Text 1"/>
          <p:cNvSpPr/>
          <p:nvPr/>
        </p:nvSpPr>
        <p:spPr>
          <a:xfrm>
            <a:off x="365760" y="109728"/>
            <a:ext cx="8412480" cy="68580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Özet</a:t>
            </a:r>
            <a:endParaRPr lang="en-US" sz="3600" dirty="0"/>
          </a:p>
        </p:txBody>
      </p:sp>
      <p:sp>
        <p:nvSpPr>
          <p:cNvPr id="4" name="Text 2"/>
          <p:cNvSpPr/>
          <p:nvPr/>
        </p:nvSpPr>
        <p:spPr>
          <a:xfrm>
            <a:off x="365760" y="822960"/>
            <a:ext cx="8412480" cy="457200"/>
          </a:xfrm>
          <a:prstGeom prst="rect">
            <a:avLst/>
          </a:prstGeom>
          <a:noFill/>
          <a:ln/>
        </p:spPr>
        <p:txBody>
          <a:bodyPr wrap="square" lIns="0" tIns="0" rIns="0" bIns="0" rtlCol="0" anchor="ctr"/>
          <a:lstStyle/>
          <a:p>
            <a:pPr indent="0" marL="0">
              <a:buNone/>
            </a:pPr>
            <a:r>
              <a:rPr lang="en-US" sz="1600" dirty="0">
                <a:solidFill>
                  <a:srgbClr val="CECBF6"/>
                </a:solidFill>
                <a:latin typeface="Arial" pitchFamily="34" charset="0"/>
                <a:ea typeface="Arial" pitchFamily="34" charset="-122"/>
                <a:cs typeface="Arial" pitchFamily="34" charset="-120"/>
              </a:rPr>
              <a:t>Projenin amacı, yöntemi ve temel bulguları</a:t>
            </a:r>
            <a:endParaRPr lang="en-US" sz="1600" dirty="0"/>
          </a:p>
        </p:txBody>
      </p:sp>
      <p:sp>
        <p:nvSpPr>
          <p:cNvPr id="5" name="Text 3"/>
          <p:cNvSpPr/>
          <p:nvPr/>
        </p:nvSpPr>
        <p:spPr>
          <a:xfrm>
            <a:off x="365760" y="1554480"/>
            <a:ext cx="8412480" cy="2194560"/>
          </a:xfrm>
          <a:prstGeom prst="rect">
            <a:avLst/>
          </a:prstGeom>
          <a:noFill/>
          <a:ln/>
        </p:spPr>
        <p:txBody>
          <a:bodyPr wrap="square" lIns="0" tIns="0" rIns="0" bIns="0" rtlCol="0" anchor="t"/>
          <a:lstStyle/>
          <a:p>
            <a:pPr algn="l" indent="0" marL="0">
              <a:spcAft>
                <a:spcPts val="600"/>
              </a:spcAft>
              <a:buNone/>
            </a:pPr>
            <a:r>
              <a:rPr lang="en-US" sz="1700" dirty="0">
                <a:solidFill>
                  <a:srgbClr val="26215C"/>
                </a:solidFill>
                <a:latin typeface="Arial" pitchFamily="34" charset="0"/>
                <a:ea typeface="Arial" pitchFamily="34" charset="-122"/>
                <a:cs typeface="Arial" pitchFamily="34" charset="-120"/>
              </a:rPr>
              <a:t>Bu çalışmada, ev ortamında yaşayan demans hastalarının günlük aktivite sensörü verilerinden ajitasyon riskini tahmin eden uçtan uca bir yazılım sistemi geliştirilmiştir. TIHM veri seti (Imperial College London, 56 hasta) kullanılarak hasta başına günlük 13 z-skor sapma özniteliği üretilmiştir. Random Forest sınıflandırıcısı SMOTE ve LOPO çapraz doğrulamasıyla eğitilmiş; karar eşiği Precision-Recall analizi ile 0,13 olarak belirlenmiştir. Model 2.722 günlük kayıt üzerinde %79 recall ve 0,655 ROC-AUC değerine ulaşmıştır. Sistem; Python ML pipeline, Express.js API, React/Vite web panosu ve React Native mobil uygulamasından oluşan tam işlevli bir yazılım ürünü olarak tamamlanmıştır.</a:t>
            </a:r>
            <a:endParaRPr lang="en-US" sz="1700" dirty="0"/>
          </a:p>
        </p:txBody>
      </p:sp>
      <p:sp>
        <p:nvSpPr>
          <p:cNvPr id="6" name="Shape 4"/>
          <p:cNvSpPr/>
          <p:nvPr/>
        </p:nvSpPr>
        <p:spPr>
          <a:xfrm>
            <a:off x="365760" y="3931920"/>
            <a:ext cx="1325880" cy="384048"/>
          </a:xfrm>
          <a:prstGeom prst="roundRect">
            <a:avLst>
              <a:gd name="adj" fmla="val 19048"/>
            </a:avLst>
          </a:prstGeom>
          <a:solidFill>
            <a:srgbClr val="534AB7"/>
          </a:solidFill>
          <a:ln w="12700">
            <a:solidFill>
              <a:srgbClr val="534AB7"/>
            </a:solidFill>
            <a:prstDash val="solid"/>
          </a:ln>
        </p:spPr>
      </p:sp>
      <p:sp>
        <p:nvSpPr>
          <p:cNvPr id="7" name="Text 5"/>
          <p:cNvSpPr/>
          <p:nvPr/>
        </p:nvSpPr>
        <p:spPr>
          <a:xfrm>
            <a:off x="365760" y="3931920"/>
            <a:ext cx="13258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Demans</a:t>
            </a:r>
            <a:endParaRPr lang="en-US" sz="1200" dirty="0"/>
          </a:p>
        </p:txBody>
      </p:sp>
      <p:sp>
        <p:nvSpPr>
          <p:cNvPr id="8" name="Shape 6"/>
          <p:cNvSpPr/>
          <p:nvPr/>
        </p:nvSpPr>
        <p:spPr>
          <a:xfrm>
            <a:off x="1792224" y="3931920"/>
            <a:ext cx="1325880" cy="384048"/>
          </a:xfrm>
          <a:prstGeom prst="roundRect">
            <a:avLst>
              <a:gd name="adj" fmla="val 19048"/>
            </a:avLst>
          </a:prstGeom>
          <a:solidFill>
            <a:srgbClr val="534AB7"/>
          </a:solidFill>
          <a:ln w="12700">
            <a:solidFill>
              <a:srgbClr val="534AB7"/>
            </a:solidFill>
            <a:prstDash val="solid"/>
          </a:ln>
        </p:spPr>
      </p:sp>
      <p:sp>
        <p:nvSpPr>
          <p:cNvPr id="9" name="Text 7"/>
          <p:cNvSpPr/>
          <p:nvPr/>
        </p:nvSpPr>
        <p:spPr>
          <a:xfrm>
            <a:off x="1792224" y="3931920"/>
            <a:ext cx="13258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Ajitasyon Tespiti</a:t>
            </a:r>
            <a:endParaRPr lang="en-US" sz="1200" dirty="0"/>
          </a:p>
        </p:txBody>
      </p:sp>
      <p:sp>
        <p:nvSpPr>
          <p:cNvPr id="10" name="Shape 8"/>
          <p:cNvSpPr/>
          <p:nvPr/>
        </p:nvSpPr>
        <p:spPr>
          <a:xfrm>
            <a:off x="3218688" y="3931920"/>
            <a:ext cx="1325880" cy="384048"/>
          </a:xfrm>
          <a:prstGeom prst="roundRect">
            <a:avLst>
              <a:gd name="adj" fmla="val 19048"/>
            </a:avLst>
          </a:prstGeom>
          <a:solidFill>
            <a:srgbClr val="534AB7"/>
          </a:solidFill>
          <a:ln w="12700">
            <a:solidFill>
              <a:srgbClr val="534AB7"/>
            </a:solidFill>
            <a:prstDash val="solid"/>
          </a:ln>
        </p:spPr>
      </p:sp>
      <p:sp>
        <p:nvSpPr>
          <p:cNvPr id="11" name="Text 9"/>
          <p:cNvSpPr/>
          <p:nvPr/>
        </p:nvSpPr>
        <p:spPr>
          <a:xfrm>
            <a:off x="3218688" y="3931920"/>
            <a:ext cx="13258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Random Forest</a:t>
            </a:r>
            <a:endParaRPr lang="en-US" sz="1200" dirty="0"/>
          </a:p>
        </p:txBody>
      </p:sp>
      <p:sp>
        <p:nvSpPr>
          <p:cNvPr id="12" name="Shape 10"/>
          <p:cNvSpPr/>
          <p:nvPr/>
        </p:nvSpPr>
        <p:spPr>
          <a:xfrm>
            <a:off x="4645152" y="3931920"/>
            <a:ext cx="1325880" cy="384048"/>
          </a:xfrm>
          <a:prstGeom prst="roundRect">
            <a:avLst>
              <a:gd name="adj" fmla="val 19048"/>
            </a:avLst>
          </a:prstGeom>
          <a:solidFill>
            <a:srgbClr val="534AB7"/>
          </a:solidFill>
          <a:ln w="12700">
            <a:solidFill>
              <a:srgbClr val="534AB7"/>
            </a:solidFill>
            <a:prstDash val="solid"/>
          </a:ln>
        </p:spPr>
      </p:sp>
      <p:sp>
        <p:nvSpPr>
          <p:cNvPr id="13" name="Text 11"/>
          <p:cNvSpPr/>
          <p:nvPr/>
        </p:nvSpPr>
        <p:spPr>
          <a:xfrm>
            <a:off x="4645152" y="3931920"/>
            <a:ext cx="13258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LOPO</a:t>
            </a:r>
            <a:endParaRPr lang="en-US" sz="1200" dirty="0"/>
          </a:p>
        </p:txBody>
      </p:sp>
      <p:sp>
        <p:nvSpPr>
          <p:cNvPr id="14" name="Shape 12"/>
          <p:cNvSpPr/>
          <p:nvPr/>
        </p:nvSpPr>
        <p:spPr>
          <a:xfrm>
            <a:off x="6071616" y="3931920"/>
            <a:ext cx="1325880" cy="384048"/>
          </a:xfrm>
          <a:prstGeom prst="roundRect">
            <a:avLst>
              <a:gd name="adj" fmla="val 19048"/>
            </a:avLst>
          </a:prstGeom>
          <a:solidFill>
            <a:srgbClr val="534AB7"/>
          </a:solidFill>
          <a:ln w="12700">
            <a:solidFill>
              <a:srgbClr val="534AB7"/>
            </a:solidFill>
            <a:prstDash val="solid"/>
          </a:ln>
        </p:spPr>
      </p:sp>
      <p:sp>
        <p:nvSpPr>
          <p:cNvPr id="15" name="Text 13"/>
          <p:cNvSpPr/>
          <p:nvPr/>
        </p:nvSpPr>
        <p:spPr>
          <a:xfrm>
            <a:off x="6071616" y="3931920"/>
            <a:ext cx="13258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SMOTE</a:t>
            </a:r>
            <a:endParaRPr lang="en-US" sz="1200" dirty="0"/>
          </a:p>
        </p:txBody>
      </p:sp>
      <p:sp>
        <p:nvSpPr>
          <p:cNvPr id="16" name="Shape 14"/>
          <p:cNvSpPr/>
          <p:nvPr/>
        </p:nvSpPr>
        <p:spPr>
          <a:xfrm>
            <a:off x="7498080" y="3931920"/>
            <a:ext cx="1325880" cy="384048"/>
          </a:xfrm>
          <a:prstGeom prst="roundRect">
            <a:avLst>
              <a:gd name="adj" fmla="val 19048"/>
            </a:avLst>
          </a:prstGeom>
          <a:solidFill>
            <a:srgbClr val="534AB7"/>
          </a:solidFill>
          <a:ln w="12700">
            <a:solidFill>
              <a:srgbClr val="534AB7"/>
            </a:solidFill>
            <a:prstDash val="solid"/>
          </a:ln>
        </p:spPr>
      </p:sp>
      <p:sp>
        <p:nvSpPr>
          <p:cNvPr id="17" name="Text 15"/>
          <p:cNvSpPr/>
          <p:nvPr/>
        </p:nvSpPr>
        <p:spPr>
          <a:xfrm>
            <a:off x="7498080" y="3931920"/>
            <a:ext cx="13258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TIHM</a:t>
            </a:r>
            <a:endParaRPr lang="en-US" sz="1200" dirty="0"/>
          </a:p>
        </p:txBody>
      </p:sp>
      <p:sp>
        <p:nvSpPr>
          <p:cNvPr id="18" name="Text 16"/>
          <p:cNvSpPr/>
          <p:nvPr/>
        </p:nvSpPr>
        <p:spPr>
          <a:xfrm>
            <a:off x="274320" y="4892040"/>
            <a:ext cx="4572000" cy="228600"/>
          </a:xfrm>
          <a:prstGeom prst="rect">
            <a:avLst/>
          </a:prstGeom>
          <a:noFill/>
          <a:ln/>
        </p:spPr>
        <p:txBody>
          <a:bodyPr wrap="square" lIns="0" tIns="0" rIns="0" bIns="0" rtlCol="0" anchor="ctr"/>
          <a:lstStyle/>
          <a:p>
            <a:pPr indent="0" marL="0">
              <a:buNone/>
            </a:pPr>
            <a:r>
              <a:rPr lang="en-US" sz="1100" dirty="0">
                <a:solidFill>
                  <a:srgbClr val="534AB7"/>
                </a:solidFill>
                <a:latin typeface="Arial" pitchFamily="34" charset="0"/>
                <a:ea typeface="Arial" pitchFamily="34" charset="-122"/>
                <a:cs typeface="Arial" pitchFamily="34" charset="-120"/>
              </a:rPr>
              <a:t>YZM310 Bitirme Projesi — Samsun Üniversitesi</a:t>
            </a:r>
            <a:endParaRPr lang="en-US" sz="1100" dirty="0"/>
          </a:p>
        </p:txBody>
      </p:sp>
      <p:sp>
        <p:nvSpPr>
          <p:cNvPr id="19" name="Text 17"/>
          <p:cNvSpPr/>
          <p:nvPr/>
        </p:nvSpPr>
        <p:spPr>
          <a:xfrm>
            <a:off x="4572000" y="4892040"/>
            <a:ext cx="4297680" cy="228600"/>
          </a:xfrm>
          <a:prstGeom prst="rect">
            <a:avLst/>
          </a:prstGeom>
          <a:noFill/>
          <a:ln/>
        </p:spPr>
        <p:txBody>
          <a:bodyPr wrap="square" lIns="0" tIns="0" rIns="0" bIns="0" rtlCol="0" anchor="ctr"/>
          <a:lstStyle/>
          <a:p>
            <a:pPr algn="r" indent="0" marL="0">
              <a:buNone/>
            </a:pPr>
            <a:r>
              <a:rPr lang="en-US" sz="1100" dirty="0">
                <a:solidFill>
                  <a:srgbClr val="534AB7"/>
                </a:solidFill>
                <a:latin typeface="Arial" pitchFamily="34" charset="0"/>
                <a:ea typeface="Arial" pitchFamily="34" charset="-122"/>
                <a:cs typeface="Arial" pitchFamily="34" charset="-120"/>
              </a:rPr>
              <a:t>2025/2026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EDFE"/>
        </a:solidFill>
      </p:bgPr>
    </p:bg>
    <p:spTree>
      <p:nvGrpSpPr>
        <p:cNvPr id="1" name=""/>
        <p:cNvGrpSpPr/>
        <p:nvPr/>
      </p:nvGrpSpPr>
      <p:grpSpPr>
        <a:xfrm>
          <a:off x="0" y="0"/>
          <a:ext cx="0" cy="0"/>
          <a:chOff x="0" y="0"/>
          <a:chExt cx="0" cy="0"/>
        </a:xfrm>
      </p:grpSpPr>
      <p:sp>
        <p:nvSpPr>
          <p:cNvPr id="2" name="Shape 0"/>
          <p:cNvSpPr/>
          <p:nvPr/>
        </p:nvSpPr>
        <p:spPr>
          <a:xfrm>
            <a:off x="0" y="0"/>
            <a:ext cx="9144000" cy="1417320"/>
          </a:xfrm>
          <a:prstGeom prst="rect">
            <a:avLst/>
          </a:prstGeom>
          <a:solidFill>
            <a:srgbClr val="3C3489"/>
          </a:solidFill>
          <a:ln w="12700">
            <a:solidFill>
              <a:srgbClr val="3C3489"/>
            </a:solidFill>
            <a:prstDash val="solid"/>
          </a:ln>
        </p:spPr>
      </p:sp>
      <p:sp>
        <p:nvSpPr>
          <p:cNvPr id="3" name="Text 1"/>
          <p:cNvSpPr/>
          <p:nvPr/>
        </p:nvSpPr>
        <p:spPr>
          <a:xfrm>
            <a:off x="365760" y="109728"/>
            <a:ext cx="8412480" cy="68580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Giriş</a:t>
            </a:r>
            <a:endParaRPr lang="en-US" sz="3600" dirty="0"/>
          </a:p>
        </p:txBody>
      </p:sp>
      <p:sp>
        <p:nvSpPr>
          <p:cNvPr id="4" name="Text 2"/>
          <p:cNvSpPr/>
          <p:nvPr/>
        </p:nvSpPr>
        <p:spPr>
          <a:xfrm>
            <a:off x="365760" y="822960"/>
            <a:ext cx="8412480" cy="457200"/>
          </a:xfrm>
          <a:prstGeom prst="rect">
            <a:avLst/>
          </a:prstGeom>
          <a:noFill/>
          <a:ln/>
        </p:spPr>
        <p:txBody>
          <a:bodyPr wrap="square" lIns="0" tIns="0" rIns="0" bIns="0" rtlCol="0" anchor="ctr"/>
          <a:lstStyle/>
          <a:p>
            <a:pPr indent="0" marL="0">
              <a:buNone/>
            </a:pPr>
            <a:r>
              <a:rPr lang="en-US" sz="1600" dirty="0">
                <a:solidFill>
                  <a:srgbClr val="CECBF6"/>
                </a:solidFill>
                <a:latin typeface="Arial" pitchFamily="34" charset="0"/>
                <a:ea typeface="Arial" pitchFamily="34" charset="-122"/>
                <a:cs typeface="Arial" pitchFamily="34" charset="-120"/>
              </a:rPr>
              <a:t>Demans ve ajitasyon problemi</a:t>
            </a:r>
            <a:endParaRPr lang="en-US" sz="1600" dirty="0"/>
          </a:p>
        </p:txBody>
      </p:sp>
      <p:sp>
        <p:nvSpPr>
          <p:cNvPr id="5" name="Text 3"/>
          <p:cNvSpPr/>
          <p:nvPr/>
        </p:nvSpPr>
        <p:spPr>
          <a:xfrm>
            <a:off x="365760" y="1554480"/>
            <a:ext cx="4389120" cy="3108960"/>
          </a:xfrm>
          <a:prstGeom prst="rect">
            <a:avLst/>
          </a:prstGeom>
          <a:noFill/>
          <a:ln/>
        </p:spPr>
        <p:txBody>
          <a:bodyPr wrap="square" lIns="0" tIns="0" rIns="0" bIns="0" rtlCol="0" anchor="t"/>
          <a:lstStyle/>
          <a:p>
            <a:pPr indent="0" marL="0">
              <a:spcAft>
                <a:spcPts val="400"/>
              </a:spcAft>
              <a:buNone/>
            </a:pPr>
            <a:r>
              <a:rPr lang="en-US" sz="1500" dirty="0">
                <a:solidFill>
                  <a:srgbClr val="26215C"/>
                </a:solidFill>
                <a:latin typeface="Arial" pitchFamily="34" charset="0"/>
                <a:ea typeface="Arial" pitchFamily="34" charset="-122"/>
                <a:cs typeface="Arial" pitchFamily="34" charset="-120"/>
              </a:rPr>
              <a:t>Dünya genelinde ~55 milyon kişi demansla yaşıyor (WHO, 2023).
</a:t>
            </a:r>
            <a:pPr indent="0" marL="0">
              <a:spcAft>
                <a:spcPts val="400"/>
              </a:spcAft>
              <a:buNone/>
            </a:pPr>
            <a:r>
              <a:rPr lang="en-US" sz="1500" dirty="0">
                <a:solidFill>
                  <a:srgbClr val="26215C"/>
                </a:solidFill>
                <a:latin typeface="Arial" pitchFamily="34" charset="0"/>
                <a:ea typeface="Arial" pitchFamily="34" charset="-122"/>
                <a:cs typeface="Arial" pitchFamily="34" charset="-120"/>
              </a:rPr>
              <a:t>Türkiye'de saha çalışmalarına göre ~1 milyon hasta var; bu sayının 2030'da 1,5 milyona ulaşması bekleniyor (Evlice, 2022).
</a:t>
            </a:r>
            <a:pPr indent="0" marL="0">
              <a:spcAft>
                <a:spcPts val="400"/>
              </a:spcAft>
              <a:buNone/>
            </a:pPr>
            <a:r>
              <a:rPr lang="en-US" sz="1500" dirty="0">
                <a:solidFill>
                  <a:srgbClr val="26215C"/>
                </a:solidFill>
                <a:latin typeface="Arial" pitchFamily="34" charset="0"/>
                <a:ea typeface="Arial" pitchFamily="34" charset="-122"/>
                <a:cs typeface="Arial" pitchFamily="34" charset="-120"/>
              </a:rPr>
              <a:t>Ajitasyon, demans hastalarında en sık görülen ve yönetimi en güç davranışsal semptomdur. Bakıcıların %70'i yüksek stres, %40'ı klinik depresyon yaşamaktadır (Alzheimer's Association, 2023).
</a:t>
            </a:r>
            <a:pPr indent="0" marL="0">
              <a:spcAft>
                <a:spcPts val="400"/>
              </a:spcAft>
              <a:buNone/>
            </a:pPr>
            <a:r>
              <a:rPr lang="en-US" sz="1500" dirty="0">
                <a:solidFill>
                  <a:srgbClr val="26215C"/>
                </a:solidFill>
                <a:latin typeface="Arial" pitchFamily="34" charset="0"/>
                <a:ea typeface="Arial" pitchFamily="34" charset="-122"/>
                <a:cs typeface="Arial" pitchFamily="34" charset="-120"/>
              </a:rPr>
              <a:t>Mevcut sistemler ya gerçek zamanlı donanım izlemesi ya da klinisyen müdahalesi gerektirmekte; ev bakımında ölçeklenememektedir.</a:t>
            </a:r>
            <a:endParaRPr lang="en-US" sz="1500" dirty="0"/>
          </a:p>
        </p:txBody>
      </p:sp>
      <p:sp>
        <p:nvSpPr>
          <p:cNvPr id="6" name="Text 4"/>
          <p:cNvSpPr/>
          <p:nvPr/>
        </p:nvSpPr>
        <p:spPr>
          <a:xfrm>
            <a:off x="5120640" y="1600200"/>
            <a:ext cx="1737360" cy="640080"/>
          </a:xfrm>
          <a:prstGeom prst="rect">
            <a:avLst/>
          </a:prstGeom>
          <a:noFill/>
          <a:ln/>
        </p:spPr>
        <p:txBody>
          <a:bodyPr wrap="square" lIns="0" tIns="0" rIns="0" bIns="0" rtlCol="0" anchor="ctr"/>
          <a:lstStyle/>
          <a:p>
            <a:pPr indent="0" marL="0">
              <a:buNone/>
            </a:pPr>
            <a:r>
              <a:rPr lang="en-US" sz="4000" b="1" dirty="0">
                <a:solidFill>
                  <a:srgbClr val="26215C"/>
                </a:solidFill>
                <a:latin typeface="Arial" pitchFamily="34" charset="0"/>
                <a:ea typeface="Arial" pitchFamily="34" charset="-122"/>
                <a:cs typeface="Arial" pitchFamily="34" charset="-120"/>
              </a:rPr>
              <a:t>~1M</a:t>
            </a:r>
            <a:endParaRPr lang="en-US" sz="4000" dirty="0"/>
          </a:p>
        </p:txBody>
      </p:sp>
      <p:sp>
        <p:nvSpPr>
          <p:cNvPr id="7" name="Text 5"/>
          <p:cNvSpPr/>
          <p:nvPr/>
        </p:nvSpPr>
        <p:spPr>
          <a:xfrm>
            <a:off x="6903720" y="1645920"/>
            <a:ext cx="1920240" cy="594360"/>
          </a:xfrm>
          <a:prstGeom prst="rect">
            <a:avLst/>
          </a:prstGeom>
          <a:noFill/>
          <a:ln/>
        </p:spPr>
        <p:txBody>
          <a:bodyPr wrap="square" lIns="0" tIns="0" rIns="0" bIns="0" rtlCol="0" anchor="ctr"/>
          <a:lstStyle/>
          <a:p>
            <a:pPr indent="0" marL="0">
              <a:buNone/>
            </a:pPr>
            <a:r>
              <a:rPr lang="en-US" sz="1300" b="1" dirty="0">
                <a:solidFill>
                  <a:srgbClr val="26215C"/>
                </a:solidFill>
                <a:latin typeface="Arial" pitchFamily="34" charset="0"/>
                <a:ea typeface="Arial" pitchFamily="34" charset="-122"/>
                <a:cs typeface="Arial" pitchFamily="34" charset="-120"/>
              </a:rPr>
              <a:t>hasta Türkiye'de</a:t>
            </a:r>
            <a:endParaRPr lang="en-US" sz="1300" dirty="0"/>
          </a:p>
          <a:p>
            <a:pPr indent="0" marL="0">
              <a:buNone/>
            </a:pPr>
            <a:r>
              <a:rPr lang="en-US" sz="1300" b="1" dirty="0">
                <a:solidFill>
                  <a:srgbClr val="26215C"/>
                </a:solidFill>
                <a:latin typeface="Arial" pitchFamily="34" charset="0"/>
                <a:ea typeface="Arial" pitchFamily="34" charset="-122"/>
                <a:cs typeface="Arial" pitchFamily="34" charset="-120"/>
              </a:rPr>
              <a:t>sadece 248K tanılı</a:t>
            </a:r>
            <a:endParaRPr lang="en-US" sz="1300" dirty="0"/>
          </a:p>
        </p:txBody>
      </p:sp>
      <p:sp>
        <p:nvSpPr>
          <p:cNvPr id="8" name="Text 6"/>
          <p:cNvSpPr/>
          <p:nvPr/>
        </p:nvSpPr>
        <p:spPr>
          <a:xfrm>
            <a:off x="5120640" y="2697480"/>
            <a:ext cx="1737360" cy="640080"/>
          </a:xfrm>
          <a:prstGeom prst="rect">
            <a:avLst/>
          </a:prstGeom>
          <a:noFill/>
          <a:ln/>
        </p:spPr>
        <p:txBody>
          <a:bodyPr wrap="square" lIns="0" tIns="0" rIns="0" bIns="0" rtlCol="0" anchor="ctr"/>
          <a:lstStyle/>
          <a:p>
            <a:pPr indent="0" marL="0">
              <a:buNone/>
            </a:pPr>
            <a:r>
              <a:rPr lang="en-US" sz="4000" b="1" dirty="0">
                <a:solidFill>
                  <a:srgbClr val="26215C"/>
                </a:solidFill>
                <a:latin typeface="Arial" pitchFamily="34" charset="0"/>
                <a:ea typeface="Arial" pitchFamily="34" charset="-122"/>
                <a:cs typeface="Arial" pitchFamily="34" charset="-120"/>
              </a:rPr>
              <a:t>1.5M</a:t>
            </a:r>
            <a:endParaRPr lang="en-US" sz="4000" dirty="0"/>
          </a:p>
        </p:txBody>
      </p:sp>
      <p:sp>
        <p:nvSpPr>
          <p:cNvPr id="9" name="Text 7"/>
          <p:cNvSpPr/>
          <p:nvPr/>
        </p:nvSpPr>
        <p:spPr>
          <a:xfrm>
            <a:off x="6903720" y="2743200"/>
            <a:ext cx="1920240" cy="594360"/>
          </a:xfrm>
          <a:prstGeom prst="rect">
            <a:avLst/>
          </a:prstGeom>
          <a:noFill/>
          <a:ln/>
        </p:spPr>
        <p:txBody>
          <a:bodyPr wrap="square" lIns="0" tIns="0" rIns="0" bIns="0" rtlCol="0" anchor="ctr"/>
          <a:lstStyle/>
          <a:p>
            <a:pPr indent="0" marL="0">
              <a:buNone/>
            </a:pPr>
            <a:r>
              <a:rPr lang="en-US" sz="1300" b="1" dirty="0">
                <a:solidFill>
                  <a:srgbClr val="26215C"/>
                </a:solidFill>
                <a:latin typeface="Arial" pitchFamily="34" charset="0"/>
                <a:ea typeface="Arial" pitchFamily="34" charset="-122"/>
                <a:cs typeface="Arial" pitchFamily="34" charset="-120"/>
              </a:rPr>
              <a:t>2030'da beklenen</a:t>
            </a:r>
            <a:endParaRPr lang="en-US" sz="1300" dirty="0"/>
          </a:p>
          <a:p>
            <a:pPr indent="0" marL="0">
              <a:buNone/>
            </a:pPr>
            <a:r>
              <a:rPr lang="en-US" sz="1300" b="1" dirty="0">
                <a:solidFill>
                  <a:srgbClr val="26215C"/>
                </a:solidFill>
                <a:latin typeface="Arial" pitchFamily="34" charset="0"/>
                <a:ea typeface="Arial" pitchFamily="34" charset="-122"/>
                <a:cs typeface="Arial" pitchFamily="34" charset="-120"/>
              </a:rPr>
              <a:t>hasta sayısı</a:t>
            </a:r>
            <a:endParaRPr lang="en-US" sz="1300" dirty="0"/>
          </a:p>
        </p:txBody>
      </p:sp>
      <p:sp>
        <p:nvSpPr>
          <p:cNvPr id="10" name="Text 8"/>
          <p:cNvSpPr/>
          <p:nvPr/>
        </p:nvSpPr>
        <p:spPr>
          <a:xfrm>
            <a:off x="5120640" y="3794760"/>
            <a:ext cx="1737360" cy="640080"/>
          </a:xfrm>
          <a:prstGeom prst="rect">
            <a:avLst/>
          </a:prstGeom>
          <a:noFill/>
          <a:ln/>
        </p:spPr>
        <p:txBody>
          <a:bodyPr wrap="square" lIns="0" tIns="0" rIns="0" bIns="0" rtlCol="0" anchor="ctr"/>
          <a:lstStyle/>
          <a:p>
            <a:pPr indent="0" marL="0">
              <a:buNone/>
            </a:pPr>
            <a:r>
              <a:rPr lang="en-US" sz="4000" b="1" dirty="0">
                <a:solidFill>
                  <a:srgbClr val="26215C"/>
                </a:solidFill>
                <a:latin typeface="Arial" pitchFamily="34" charset="0"/>
                <a:ea typeface="Arial" pitchFamily="34" charset="-122"/>
                <a:cs typeface="Arial" pitchFamily="34" charset="-120"/>
              </a:rPr>
              <a:t>%70</a:t>
            </a:r>
            <a:endParaRPr lang="en-US" sz="4000" dirty="0"/>
          </a:p>
        </p:txBody>
      </p:sp>
      <p:sp>
        <p:nvSpPr>
          <p:cNvPr id="11" name="Text 9"/>
          <p:cNvSpPr/>
          <p:nvPr/>
        </p:nvSpPr>
        <p:spPr>
          <a:xfrm>
            <a:off x="6903720" y="3840480"/>
            <a:ext cx="1920240" cy="594360"/>
          </a:xfrm>
          <a:prstGeom prst="rect">
            <a:avLst/>
          </a:prstGeom>
          <a:noFill/>
          <a:ln/>
        </p:spPr>
        <p:txBody>
          <a:bodyPr wrap="square" lIns="0" tIns="0" rIns="0" bIns="0" rtlCol="0" anchor="ctr"/>
          <a:lstStyle/>
          <a:p>
            <a:pPr indent="0" marL="0">
              <a:buNone/>
            </a:pPr>
            <a:r>
              <a:rPr lang="en-US" sz="1300" b="1" dirty="0">
                <a:solidFill>
                  <a:srgbClr val="26215C"/>
                </a:solidFill>
                <a:latin typeface="Arial" pitchFamily="34" charset="0"/>
                <a:ea typeface="Arial" pitchFamily="34" charset="-122"/>
                <a:cs typeface="Arial" pitchFamily="34" charset="-120"/>
              </a:rPr>
              <a:t>bakıcı yüksek</a:t>
            </a:r>
            <a:endParaRPr lang="en-US" sz="1300" dirty="0"/>
          </a:p>
          <a:p>
            <a:pPr indent="0" marL="0">
              <a:buNone/>
            </a:pPr>
            <a:r>
              <a:rPr lang="en-US" sz="1300" b="1" dirty="0">
                <a:solidFill>
                  <a:srgbClr val="26215C"/>
                </a:solidFill>
                <a:latin typeface="Arial" pitchFamily="34" charset="0"/>
                <a:ea typeface="Arial" pitchFamily="34" charset="-122"/>
                <a:cs typeface="Arial" pitchFamily="34" charset="-120"/>
              </a:rPr>
              <a:t>stres yaşıyor</a:t>
            </a:r>
            <a:endParaRPr lang="en-US" sz="1300" dirty="0"/>
          </a:p>
        </p:txBody>
      </p:sp>
      <p:sp>
        <p:nvSpPr>
          <p:cNvPr id="12" name="Text 10"/>
          <p:cNvSpPr/>
          <p:nvPr/>
        </p:nvSpPr>
        <p:spPr>
          <a:xfrm>
            <a:off x="274320" y="4892040"/>
            <a:ext cx="4572000" cy="228600"/>
          </a:xfrm>
          <a:prstGeom prst="rect">
            <a:avLst/>
          </a:prstGeom>
          <a:noFill/>
          <a:ln/>
        </p:spPr>
        <p:txBody>
          <a:bodyPr wrap="square" lIns="0" tIns="0" rIns="0" bIns="0" rtlCol="0" anchor="ctr"/>
          <a:lstStyle/>
          <a:p>
            <a:pPr indent="0" marL="0">
              <a:buNone/>
            </a:pPr>
            <a:r>
              <a:rPr lang="en-US" sz="1100" dirty="0">
                <a:solidFill>
                  <a:srgbClr val="534AB7"/>
                </a:solidFill>
                <a:latin typeface="Arial" pitchFamily="34" charset="0"/>
                <a:ea typeface="Arial" pitchFamily="34" charset="-122"/>
                <a:cs typeface="Arial" pitchFamily="34" charset="-120"/>
              </a:rPr>
              <a:t>YZM310 Bitirme Projesi — Samsun Üniversitesi</a:t>
            </a:r>
            <a:endParaRPr lang="en-US" sz="1100" dirty="0"/>
          </a:p>
        </p:txBody>
      </p:sp>
      <p:sp>
        <p:nvSpPr>
          <p:cNvPr id="13" name="Text 11"/>
          <p:cNvSpPr/>
          <p:nvPr/>
        </p:nvSpPr>
        <p:spPr>
          <a:xfrm>
            <a:off x="4572000" y="4892040"/>
            <a:ext cx="4297680" cy="228600"/>
          </a:xfrm>
          <a:prstGeom prst="rect">
            <a:avLst/>
          </a:prstGeom>
          <a:noFill/>
          <a:ln/>
        </p:spPr>
        <p:txBody>
          <a:bodyPr wrap="square" lIns="0" tIns="0" rIns="0" bIns="0" rtlCol="0" anchor="ctr"/>
          <a:lstStyle/>
          <a:p>
            <a:pPr algn="r" indent="0" marL="0">
              <a:buNone/>
            </a:pPr>
            <a:r>
              <a:rPr lang="en-US" sz="1100" dirty="0">
                <a:solidFill>
                  <a:srgbClr val="534AB7"/>
                </a:solidFill>
                <a:latin typeface="Arial" pitchFamily="34" charset="0"/>
                <a:ea typeface="Arial" pitchFamily="34" charset="-122"/>
                <a:cs typeface="Arial" pitchFamily="34" charset="-120"/>
              </a:rPr>
              <a:t>2025/2026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DFE"/>
        </a:solidFill>
      </p:bgPr>
    </p:bg>
    <p:spTree>
      <p:nvGrpSpPr>
        <p:cNvPr id="1" name=""/>
        <p:cNvGrpSpPr/>
        <p:nvPr/>
      </p:nvGrpSpPr>
      <p:grpSpPr>
        <a:xfrm>
          <a:off x="0" y="0"/>
          <a:ext cx="0" cy="0"/>
          <a:chOff x="0" y="0"/>
          <a:chExt cx="0" cy="0"/>
        </a:xfrm>
      </p:grpSpPr>
      <p:sp>
        <p:nvSpPr>
          <p:cNvPr id="2" name="Shape 0"/>
          <p:cNvSpPr/>
          <p:nvPr/>
        </p:nvSpPr>
        <p:spPr>
          <a:xfrm>
            <a:off x="0" y="0"/>
            <a:ext cx="9144000" cy="1417320"/>
          </a:xfrm>
          <a:prstGeom prst="rect">
            <a:avLst/>
          </a:prstGeom>
          <a:solidFill>
            <a:srgbClr val="3C3489"/>
          </a:solidFill>
          <a:ln w="12700">
            <a:solidFill>
              <a:srgbClr val="3C3489"/>
            </a:solidFill>
            <a:prstDash val="solid"/>
          </a:ln>
        </p:spPr>
      </p:sp>
      <p:sp>
        <p:nvSpPr>
          <p:cNvPr id="3" name="Text 1"/>
          <p:cNvSpPr/>
          <p:nvPr/>
        </p:nvSpPr>
        <p:spPr>
          <a:xfrm>
            <a:off x="365760" y="109728"/>
            <a:ext cx="8412480" cy="68580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Materyal ve Yöntem</a:t>
            </a:r>
            <a:endParaRPr lang="en-US" sz="3600" dirty="0"/>
          </a:p>
        </p:txBody>
      </p:sp>
      <p:sp>
        <p:nvSpPr>
          <p:cNvPr id="4" name="Text 2"/>
          <p:cNvSpPr/>
          <p:nvPr/>
        </p:nvSpPr>
        <p:spPr>
          <a:xfrm>
            <a:off x="365760" y="822960"/>
            <a:ext cx="8412480" cy="457200"/>
          </a:xfrm>
          <a:prstGeom prst="rect">
            <a:avLst/>
          </a:prstGeom>
          <a:noFill/>
          <a:ln/>
        </p:spPr>
        <p:txBody>
          <a:bodyPr wrap="square" lIns="0" tIns="0" rIns="0" bIns="0" rtlCol="0" anchor="ctr"/>
          <a:lstStyle/>
          <a:p>
            <a:pPr indent="0" marL="0">
              <a:buNone/>
            </a:pPr>
            <a:r>
              <a:rPr lang="en-US" sz="1600" dirty="0">
                <a:solidFill>
                  <a:srgbClr val="CECBF6"/>
                </a:solidFill>
                <a:latin typeface="Arial" pitchFamily="34" charset="0"/>
                <a:ea typeface="Arial" pitchFamily="34" charset="-122"/>
                <a:cs typeface="Arial" pitchFamily="34" charset="-120"/>
              </a:rPr>
              <a:t>TIHM · Öznitelik Mühendisliği · Random Forest · LOPO</a:t>
            </a:r>
            <a:endParaRPr lang="en-US" sz="1600" dirty="0"/>
          </a:p>
        </p:txBody>
      </p:sp>
      <p:sp>
        <p:nvSpPr>
          <p:cNvPr id="5" name="Shape 3"/>
          <p:cNvSpPr/>
          <p:nvPr/>
        </p:nvSpPr>
        <p:spPr>
          <a:xfrm>
            <a:off x="274320" y="1600200"/>
            <a:ext cx="1508760" cy="1005840"/>
          </a:xfrm>
          <a:prstGeom prst="roundRect">
            <a:avLst>
              <a:gd name="adj" fmla="val 9091"/>
            </a:avLst>
          </a:prstGeom>
          <a:solidFill>
            <a:srgbClr val="3C3489"/>
          </a:solidFill>
          <a:ln w="12700">
            <a:solidFill>
              <a:srgbClr val="3C3489"/>
            </a:solidFill>
            <a:prstDash val="solid"/>
          </a:ln>
        </p:spPr>
      </p:sp>
      <p:sp>
        <p:nvSpPr>
          <p:cNvPr id="6" name="Text 4"/>
          <p:cNvSpPr/>
          <p:nvPr/>
        </p:nvSpPr>
        <p:spPr>
          <a:xfrm>
            <a:off x="274320" y="1600200"/>
            <a:ext cx="150876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TIHM</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Veri Seti</a:t>
            </a:r>
            <a:endParaRPr lang="en-US" sz="1300" dirty="0"/>
          </a:p>
        </p:txBody>
      </p:sp>
      <p:sp>
        <p:nvSpPr>
          <p:cNvPr id="7" name="Text 5"/>
          <p:cNvSpPr/>
          <p:nvPr/>
        </p:nvSpPr>
        <p:spPr>
          <a:xfrm>
            <a:off x="274320" y="2167128"/>
            <a:ext cx="1508760" cy="438912"/>
          </a:xfrm>
          <a:prstGeom prst="rect">
            <a:avLst/>
          </a:prstGeom>
          <a:noFill/>
          <a:ln/>
        </p:spPr>
        <p:txBody>
          <a:bodyPr wrap="square" lIns="0" tIns="0" rIns="0" bIns="0" rtlCol="0" anchor="t"/>
          <a:lstStyle/>
          <a:p>
            <a:pPr algn="ctr" indent="0" marL="0">
              <a:buNone/>
            </a:pPr>
            <a:r>
              <a:rPr lang="en-US" sz="1100" dirty="0">
                <a:solidFill>
                  <a:srgbClr val="CECBF6"/>
                </a:solidFill>
                <a:latin typeface="Arial" pitchFamily="34" charset="0"/>
                <a:ea typeface="Arial" pitchFamily="34" charset="-122"/>
                <a:cs typeface="Arial" pitchFamily="34" charset="-120"/>
              </a:rPr>
              <a:t>56 hasta</a:t>
            </a:r>
            <a:endParaRPr lang="en-US" sz="1100" dirty="0"/>
          </a:p>
          <a:p>
            <a:pPr algn="ctr" indent="0" marL="0">
              <a:buNone/>
            </a:pPr>
            <a:r>
              <a:rPr lang="en-US" sz="1100" dirty="0">
                <a:solidFill>
                  <a:srgbClr val="CECBF6"/>
                </a:solidFill>
                <a:latin typeface="Arial" pitchFamily="34" charset="0"/>
                <a:ea typeface="Arial" pitchFamily="34" charset="-122"/>
                <a:cs typeface="Arial" pitchFamily="34" charset="-120"/>
              </a:rPr>
              <a:t>5 CSV</a:t>
            </a:r>
            <a:endParaRPr lang="en-US" sz="1100" dirty="0"/>
          </a:p>
        </p:txBody>
      </p:sp>
      <p:sp>
        <p:nvSpPr>
          <p:cNvPr id="8" name="Shape 6"/>
          <p:cNvSpPr/>
          <p:nvPr/>
        </p:nvSpPr>
        <p:spPr>
          <a:xfrm>
            <a:off x="1810512" y="2103120"/>
            <a:ext cx="173736" cy="0"/>
          </a:xfrm>
          <a:prstGeom prst="line">
            <a:avLst/>
          </a:prstGeom>
          <a:noFill/>
          <a:ln w="25400">
            <a:solidFill>
              <a:srgbClr val="534AB7"/>
            </a:solidFill>
            <a:prstDash val="solid"/>
          </a:ln>
        </p:spPr>
      </p:sp>
      <p:sp>
        <p:nvSpPr>
          <p:cNvPr id="9" name="Shape 7"/>
          <p:cNvSpPr/>
          <p:nvPr/>
        </p:nvSpPr>
        <p:spPr>
          <a:xfrm>
            <a:off x="2011680" y="1600200"/>
            <a:ext cx="1508760" cy="1005840"/>
          </a:xfrm>
          <a:prstGeom prst="roundRect">
            <a:avLst>
              <a:gd name="adj" fmla="val 9091"/>
            </a:avLst>
          </a:prstGeom>
          <a:solidFill>
            <a:srgbClr val="3C3489"/>
          </a:solidFill>
          <a:ln w="12700">
            <a:solidFill>
              <a:srgbClr val="3C3489"/>
            </a:solidFill>
            <a:prstDash val="solid"/>
          </a:ln>
        </p:spPr>
      </p:sp>
      <p:sp>
        <p:nvSpPr>
          <p:cNvPr id="10" name="Text 8"/>
          <p:cNvSpPr/>
          <p:nvPr/>
        </p:nvSpPr>
        <p:spPr>
          <a:xfrm>
            <a:off x="2011680" y="1600200"/>
            <a:ext cx="150876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Öznitelik</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Mühendisliği</a:t>
            </a:r>
            <a:endParaRPr lang="en-US" sz="1300" dirty="0"/>
          </a:p>
        </p:txBody>
      </p:sp>
      <p:sp>
        <p:nvSpPr>
          <p:cNvPr id="11" name="Text 9"/>
          <p:cNvSpPr/>
          <p:nvPr/>
        </p:nvSpPr>
        <p:spPr>
          <a:xfrm>
            <a:off x="2011680" y="2167128"/>
            <a:ext cx="1508760" cy="438912"/>
          </a:xfrm>
          <a:prstGeom prst="rect">
            <a:avLst/>
          </a:prstGeom>
          <a:noFill/>
          <a:ln/>
        </p:spPr>
        <p:txBody>
          <a:bodyPr wrap="square" lIns="0" tIns="0" rIns="0" bIns="0" rtlCol="0" anchor="t"/>
          <a:lstStyle/>
          <a:p>
            <a:pPr algn="ctr" indent="0" marL="0">
              <a:buNone/>
            </a:pPr>
            <a:r>
              <a:rPr lang="en-US" sz="1100" dirty="0">
                <a:solidFill>
                  <a:srgbClr val="CECBF6"/>
                </a:solidFill>
                <a:latin typeface="Arial" pitchFamily="34" charset="0"/>
                <a:ea typeface="Arial" pitchFamily="34" charset="-122"/>
                <a:cs typeface="Arial" pitchFamily="34" charset="-120"/>
              </a:rPr>
              <a:t>13 öznitelik</a:t>
            </a:r>
            <a:endParaRPr lang="en-US" sz="1100" dirty="0"/>
          </a:p>
          <a:p>
            <a:pPr algn="ctr" indent="0" marL="0">
              <a:buNone/>
            </a:pPr>
            <a:r>
              <a:rPr lang="en-US" sz="1100" dirty="0">
                <a:solidFill>
                  <a:srgbClr val="CECBF6"/>
                </a:solidFill>
                <a:latin typeface="Arial" pitchFamily="34" charset="0"/>
                <a:ea typeface="Arial" pitchFamily="34" charset="-122"/>
                <a:cs typeface="Arial" pitchFamily="34" charset="-120"/>
              </a:rPr>
              <a:t>z-skor sapma</a:t>
            </a:r>
            <a:endParaRPr lang="en-US" sz="1100" dirty="0"/>
          </a:p>
        </p:txBody>
      </p:sp>
      <p:sp>
        <p:nvSpPr>
          <p:cNvPr id="12" name="Shape 10"/>
          <p:cNvSpPr/>
          <p:nvPr/>
        </p:nvSpPr>
        <p:spPr>
          <a:xfrm>
            <a:off x="3547872" y="2103120"/>
            <a:ext cx="173736" cy="0"/>
          </a:xfrm>
          <a:prstGeom prst="line">
            <a:avLst/>
          </a:prstGeom>
          <a:noFill/>
          <a:ln w="25400">
            <a:solidFill>
              <a:srgbClr val="534AB7"/>
            </a:solidFill>
            <a:prstDash val="solid"/>
          </a:ln>
        </p:spPr>
      </p:sp>
      <p:sp>
        <p:nvSpPr>
          <p:cNvPr id="13" name="Shape 11"/>
          <p:cNvSpPr/>
          <p:nvPr/>
        </p:nvSpPr>
        <p:spPr>
          <a:xfrm>
            <a:off x="3749040" y="1600200"/>
            <a:ext cx="1508760" cy="1005840"/>
          </a:xfrm>
          <a:prstGeom prst="roundRect">
            <a:avLst>
              <a:gd name="adj" fmla="val 9091"/>
            </a:avLst>
          </a:prstGeom>
          <a:solidFill>
            <a:srgbClr val="3C3489"/>
          </a:solidFill>
          <a:ln w="12700">
            <a:solidFill>
              <a:srgbClr val="3C3489"/>
            </a:solidFill>
            <a:prstDash val="solid"/>
          </a:ln>
        </p:spPr>
      </p:sp>
      <p:sp>
        <p:nvSpPr>
          <p:cNvPr id="14" name="Text 12"/>
          <p:cNvSpPr/>
          <p:nvPr/>
        </p:nvSpPr>
        <p:spPr>
          <a:xfrm>
            <a:off x="3749040" y="1600200"/>
            <a:ext cx="150876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Model</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Eğitimi</a:t>
            </a:r>
            <a:endParaRPr lang="en-US" sz="1300" dirty="0"/>
          </a:p>
        </p:txBody>
      </p:sp>
      <p:sp>
        <p:nvSpPr>
          <p:cNvPr id="15" name="Text 13"/>
          <p:cNvSpPr/>
          <p:nvPr/>
        </p:nvSpPr>
        <p:spPr>
          <a:xfrm>
            <a:off x="3749040" y="2167128"/>
            <a:ext cx="1508760" cy="438912"/>
          </a:xfrm>
          <a:prstGeom prst="rect">
            <a:avLst/>
          </a:prstGeom>
          <a:noFill/>
          <a:ln/>
        </p:spPr>
        <p:txBody>
          <a:bodyPr wrap="square" lIns="0" tIns="0" rIns="0" bIns="0" rtlCol="0" anchor="t"/>
          <a:lstStyle/>
          <a:p>
            <a:pPr algn="ctr" indent="0" marL="0">
              <a:buNone/>
            </a:pPr>
            <a:r>
              <a:rPr lang="en-US" sz="1100" dirty="0">
                <a:solidFill>
                  <a:srgbClr val="CECBF6"/>
                </a:solidFill>
                <a:latin typeface="Arial" pitchFamily="34" charset="0"/>
                <a:ea typeface="Arial" pitchFamily="34" charset="-122"/>
                <a:cs typeface="Arial" pitchFamily="34" charset="-120"/>
              </a:rPr>
              <a:t>RF + SMOTE</a:t>
            </a:r>
            <a:endParaRPr lang="en-US" sz="1100" dirty="0"/>
          </a:p>
          <a:p>
            <a:pPr algn="ctr" indent="0" marL="0">
              <a:buNone/>
            </a:pPr>
            <a:r>
              <a:rPr lang="en-US" sz="1100" dirty="0">
                <a:solidFill>
                  <a:srgbClr val="CECBF6"/>
                </a:solidFill>
                <a:latin typeface="Arial" pitchFamily="34" charset="0"/>
                <a:ea typeface="Arial" pitchFamily="34" charset="-122"/>
                <a:cs typeface="Arial" pitchFamily="34" charset="-120"/>
              </a:rPr>
              <a:t>LOPO CV</a:t>
            </a:r>
            <a:endParaRPr lang="en-US" sz="1100" dirty="0"/>
          </a:p>
        </p:txBody>
      </p:sp>
      <p:sp>
        <p:nvSpPr>
          <p:cNvPr id="16" name="Shape 14"/>
          <p:cNvSpPr/>
          <p:nvPr/>
        </p:nvSpPr>
        <p:spPr>
          <a:xfrm>
            <a:off x="5285232" y="2103120"/>
            <a:ext cx="173736" cy="0"/>
          </a:xfrm>
          <a:prstGeom prst="line">
            <a:avLst/>
          </a:prstGeom>
          <a:noFill/>
          <a:ln w="25400">
            <a:solidFill>
              <a:srgbClr val="534AB7"/>
            </a:solidFill>
            <a:prstDash val="solid"/>
          </a:ln>
        </p:spPr>
      </p:sp>
      <p:sp>
        <p:nvSpPr>
          <p:cNvPr id="17" name="Shape 15"/>
          <p:cNvSpPr/>
          <p:nvPr/>
        </p:nvSpPr>
        <p:spPr>
          <a:xfrm>
            <a:off x="5486400" y="1600200"/>
            <a:ext cx="1508760" cy="1005840"/>
          </a:xfrm>
          <a:prstGeom prst="roundRect">
            <a:avLst>
              <a:gd name="adj" fmla="val 9091"/>
            </a:avLst>
          </a:prstGeom>
          <a:solidFill>
            <a:srgbClr val="3C3489"/>
          </a:solidFill>
          <a:ln w="12700">
            <a:solidFill>
              <a:srgbClr val="3C3489"/>
            </a:solidFill>
            <a:prstDash val="solid"/>
          </a:ln>
        </p:spPr>
      </p:sp>
      <p:sp>
        <p:nvSpPr>
          <p:cNvPr id="18" name="Text 16"/>
          <p:cNvSpPr/>
          <p:nvPr/>
        </p:nvSpPr>
        <p:spPr>
          <a:xfrm>
            <a:off x="5486400" y="1600200"/>
            <a:ext cx="150876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Tahmin</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Pipeline</a:t>
            </a:r>
            <a:endParaRPr lang="en-US" sz="1300" dirty="0"/>
          </a:p>
        </p:txBody>
      </p:sp>
      <p:sp>
        <p:nvSpPr>
          <p:cNvPr id="19" name="Text 17"/>
          <p:cNvSpPr/>
          <p:nvPr/>
        </p:nvSpPr>
        <p:spPr>
          <a:xfrm>
            <a:off x="5486400" y="2167128"/>
            <a:ext cx="1508760" cy="438912"/>
          </a:xfrm>
          <a:prstGeom prst="rect">
            <a:avLst/>
          </a:prstGeom>
          <a:noFill/>
          <a:ln/>
        </p:spPr>
        <p:txBody>
          <a:bodyPr wrap="square" lIns="0" tIns="0" rIns="0" bIns="0" rtlCol="0" anchor="t"/>
          <a:lstStyle/>
          <a:p>
            <a:pPr algn="ctr" indent="0" marL="0">
              <a:buNone/>
            </a:pPr>
            <a:r>
              <a:rPr lang="en-US" sz="1100" dirty="0">
                <a:solidFill>
                  <a:srgbClr val="CECBF6"/>
                </a:solidFill>
                <a:latin typeface="Arial" pitchFamily="34" charset="0"/>
                <a:ea typeface="Arial" pitchFamily="34" charset="-122"/>
                <a:cs typeface="Arial" pitchFamily="34" charset="-120"/>
              </a:rPr>
              <a:t>predictions</a:t>
            </a:r>
            <a:endParaRPr lang="en-US" sz="1100" dirty="0"/>
          </a:p>
          <a:p>
            <a:pPr algn="ctr" indent="0" marL="0">
              <a:buNone/>
            </a:pPr>
            <a:r>
              <a:rPr lang="en-US" sz="1100" dirty="0">
                <a:solidFill>
                  <a:srgbClr val="CECBF6"/>
                </a:solidFill>
                <a:latin typeface="Arial" pitchFamily="34" charset="0"/>
                <a:ea typeface="Arial" pitchFamily="34" charset="-122"/>
                <a:cs typeface="Arial" pitchFamily="34" charset="-120"/>
              </a:rPr>
              <a:t>.json</a:t>
            </a:r>
            <a:endParaRPr lang="en-US" sz="1100" dirty="0"/>
          </a:p>
        </p:txBody>
      </p:sp>
      <p:sp>
        <p:nvSpPr>
          <p:cNvPr id="20" name="Shape 18"/>
          <p:cNvSpPr/>
          <p:nvPr/>
        </p:nvSpPr>
        <p:spPr>
          <a:xfrm>
            <a:off x="7022592" y="2103120"/>
            <a:ext cx="173736" cy="0"/>
          </a:xfrm>
          <a:prstGeom prst="line">
            <a:avLst/>
          </a:prstGeom>
          <a:noFill/>
          <a:ln w="25400">
            <a:solidFill>
              <a:srgbClr val="534AB7"/>
            </a:solidFill>
            <a:prstDash val="solid"/>
          </a:ln>
        </p:spPr>
      </p:sp>
      <p:sp>
        <p:nvSpPr>
          <p:cNvPr id="21" name="Shape 19"/>
          <p:cNvSpPr/>
          <p:nvPr/>
        </p:nvSpPr>
        <p:spPr>
          <a:xfrm>
            <a:off x="7223760" y="1600200"/>
            <a:ext cx="1508760" cy="1005840"/>
          </a:xfrm>
          <a:prstGeom prst="roundRect">
            <a:avLst>
              <a:gd name="adj" fmla="val 9091"/>
            </a:avLst>
          </a:prstGeom>
          <a:solidFill>
            <a:srgbClr val="3C3489"/>
          </a:solidFill>
          <a:ln w="12700">
            <a:solidFill>
              <a:srgbClr val="3C3489"/>
            </a:solidFill>
            <a:prstDash val="solid"/>
          </a:ln>
        </p:spPr>
      </p:sp>
      <p:sp>
        <p:nvSpPr>
          <p:cNvPr id="22" name="Text 20"/>
          <p:cNvSpPr/>
          <p:nvPr/>
        </p:nvSpPr>
        <p:spPr>
          <a:xfrm>
            <a:off x="7223760" y="1600200"/>
            <a:ext cx="150876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Kullanıcı</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Arayüzü</a:t>
            </a:r>
            <a:endParaRPr lang="en-US" sz="1300" dirty="0"/>
          </a:p>
        </p:txBody>
      </p:sp>
      <p:sp>
        <p:nvSpPr>
          <p:cNvPr id="23" name="Text 21"/>
          <p:cNvSpPr/>
          <p:nvPr/>
        </p:nvSpPr>
        <p:spPr>
          <a:xfrm>
            <a:off x="7223760" y="2167128"/>
            <a:ext cx="1508760" cy="438912"/>
          </a:xfrm>
          <a:prstGeom prst="rect">
            <a:avLst/>
          </a:prstGeom>
          <a:noFill/>
          <a:ln/>
        </p:spPr>
        <p:txBody>
          <a:bodyPr wrap="square" lIns="0" tIns="0" rIns="0" bIns="0" rtlCol="0" anchor="t"/>
          <a:lstStyle/>
          <a:p>
            <a:pPr algn="ctr" indent="0" marL="0">
              <a:buNone/>
            </a:pPr>
            <a:r>
              <a:rPr lang="en-US" sz="1100" dirty="0">
                <a:solidFill>
                  <a:srgbClr val="CECBF6"/>
                </a:solidFill>
                <a:latin typeface="Arial" pitchFamily="34" charset="0"/>
                <a:ea typeface="Arial" pitchFamily="34" charset="-122"/>
                <a:cs typeface="Arial" pitchFamily="34" charset="-120"/>
              </a:rPr>
              <a:t>Web + Mobil</a:t>
            </a:r>
            <a:endParaRPr lang="en-US" sz="1100" dirty="0"/>
          </a:p>
          <a:p>
            <a:pPr algn="ctr" indent="0" marL="0">
              <a:buNone/>
            </a:pPr>
            <a:r>
              <a:rPr lang="en-US" sz="1100" dirty="0">
                <a:solidFill>
                  <a:srgbClr val="CECBF6"/>
                </a:solidFill>
                <a:latin typeface="Arial" pitchFamily="34" charset="0"/>
                <a:ea typeface="Arial" pitchFamily="34" charset="-122"/>
                <a:cs typeface="Arial" pitchFamily="34" charset="-120"/>
              </a:rPr>
              <a:t>Uygulama</a:t>
            </a:r>
            <a:endParaRPr lang="en-US" sz="1100" dirty="0"/>
          </a:p>
        </p:txBody>
      </p:sp>
      <p:sp>
        <p:nvSpPr>
          <p:cNvPr id="24" name="Text 22"/>
          <p:cNvSpPr/>
          <p:nvPr/>
        </p:nvSpPr>
        <p:spPr>
          <a:xfrm>
            <a:off x="365760" y="2834640"/>
            <a:ext cx="4114800" cy="320040"/>
          </a:xfrm>
          <a:prstGeom prst="rect">
            <a:avLst/>
          </a:prstGeom>
          <a:noFill/>
          <a:ln/>
        </p:spPr>
        <p:txBody>
          <a:bodyPr wrap="square" lIns="0" tIns="0" rIns="0" bIns="0" rtlCol="0" anchor="ctr"/>
          <a:lstStyle/>
          <a:p>
            <a:pPr indent="0" marL="0">
              <a:buNone/>
            </a:pPr>
            <a:r>
              <a:rPr lang="en-US" sz="1600" b="1" dirty="0">
                <a:solidFill>
                  <a:srgbClr val="3C3489"/>
                </a:solidFill>
                <a:latin typeface="Arial" pitchFamily="34" charset="0"/>
                <a:ea typeface="Arial" pitchFamily="34" charset="-122"/>
                <a:cs typeface="Arial" pitchFamily="34" charset="-120"/>
              </a:rPr>
              <a:t>Veri Seti</a:t>
            </a:r>
            <a:endParaRPr lang="en-US" sz="1600" dirty="0"/>
          </a:p>
        </p:txBody>
      </p:sp>
      <p:sp>
        <p:nvSpPr>
          <p:cNvPr id="25" name="Text 23"/>
          <p:cNvSpPr/>
          <p:nvPr/>
        </p:nvSpPr>
        <p:spPr>
          <a:xfrm>
            <a:off x="365760" y="3182112"/>
            <a:ext cx="4114800" cy="1554480"/>
          </a:xfrm>
          <a:prstGeom prst="rect">
            <a:avLst/>
          </a:prstGeom>
          <a:noFill/>
          <a:ln/>
        </p:spPr>
        <p:txBody>
          <a:bodyPr wrap="square" lIns="0" tIns="0" rIns="0" bIns="0" rtlCol="0" anchor="t"/>
          <a:lstStyle/>
          <a:p>
            <a:pPr indent="0" marL="0">
              <a:spcAft>
                <a:spcPts val="300"/>
              </a:spcAft>
              <a:buNone/>
            </a:pPr>
            <a:r>
              <a:rPr lang="en-US" sz="1300" dirty="0">
                <a:solidFill>
                  <a:srgbClr val="26215C"/>
                </a:solidFill>
                <a:latin typeface="Arial" pitchFamily="34" charset="0"/>
                <a:ea typeface="Arial" pitchFamily="34" charset="-122"/>
                <a:cs typeface="Arial" pitchFamily="34" charset="-120"/>
              </a:rPr>
              <a:t>• TIHM (Palermo vd., 2023) — Zenodo açık erişim
</a:t>
            </a:r>
            <a:pPr indent="0" marL="0">
              <a:spcAft>
                <a:spcPts val="300"/>
              </a:spcAft>
              <a:buNone/>
            </a:pPr>
            <a:r>
              <a:rPr lang="en-US" sz="1300" dirty="0">
                <a:solidFill>
                  <a:srgbClr val="26215C"/>
                </a:solidFill>
                <a:latin typeface="Arial" pitchFamily="34" charset="0"/>
                <a:ea typeface="Arial" pitchFamily="34" charset="-122"/>
                <a:cs typeface="Arial" pitchFamily="34" charset="-120"/>
              </a:rPr>
              <a:t>• 56 demans hastası, 2.722 günlük kayıt
</a:t>
            </a:r>
            <a:pPr indent="0" marL="0">
              <a:spcAft>
                <a:spcPts val="300"/>
              </a:spcAft>
              <a:buNone/>
            </a:pPr>
            <a:r>
              <a:rPr lang="en-US" sz="1300" dirty="0">
                <a:solidFill>
                  <a:srgbClr val="26215C"/>
                </a:solidFill>
                <a:latin typeface="Arial" pitchFamily="34" charset="0"/>
                <a:ea typeface="Arial" pitchFamily="34" charset="-122"/>
                <a:cs typeface="Arial" pitchFamily="34" charset="-120"/>
              </a:rPr>
              <a:t>• %4,2 pozitif oran (109 ajitasyon günü)
</a:t>
            </a:r>
            <a:pPr indent="0" marL="0">
              <a:spcAft>
                <a:spcPts val="300"/>
              </a:spcAft>
              <a:buNone/>
            </a:pPr>
            <a:r>
              <a:rPr lang="en-US" sz="1300" dirty="0">
                <a:solidFill>
                  <a:srgbClr val="26215C"/>
                </a:solidFill>
                <a:latin typeface="Arial" pitchFamily="34" charset="0"/>
                <a:ea typeface="Arial" pitchFamily="34" charset="-122"/>
                <a:cs typeface="Arial" pitchFamily="34" charset="-120"/>
              </a:rPr>
              <a:t>• Uyku verisi kapsam dışı (6 hasta kesişimi)
</a:t>
            </a:r>
            <a:pPr indent="0" marL="0">
              <a:spcAft>
                <a:spcPts val="300"/>
              </a:spcAft>
              <a:buNone/>
            </a:pPr>
            <a:r>
              <a:rPr lang="en-US" sz="1300" dirty="0">
                <a:solidFill>
                  <a:srgbClr val="26215C"/>
                </a:solidFill>
                <a:latin typeface="Arial" pitchFamily="34" charset="0"/>
                <a:ea typeface="Arial" pitchFamily="34" charset="-122"/>
                <a:cs typeface="Arial" pitchFamily="34" charset="-120"/>
              </a:rPr>
              <a:t>• Z-skor normalizasyonu: hasta bazlı sapma</a:t>
            </a:r>
            <a:endParaRPr lang="en-US" sz="1300" dirty="0"/>
          </a:p>
        </p:txBody>
      </p:sp>
      <p:sp>
        <p:nvSpPr>
          <p:cNvPr id="26" name="Text 24"/>
          <p:cNvSpPr/>
          <p:nvPr/>
        </p:nvSpPr>
        <p:spPr>
          <a:xfrm>
            <a:off x="4754880" y="2834640"/>
            <a:ext cx="4114800" cy="320040"/>
          </a:xfrm>
          <a:prstGeom prst="rect">
            <a:avLst/>
          </a:prstGeom>
          <a:noFill/>
          <a:ln/>
        </p:spPr>
        <p:txBody>
          <a:bodyPr wrap="square" lIns="0" tIns="0" rIns="0" bIns="0" rtlCol="0" anchor="ctr"/>
          <a:lstStyle/>
          <a:p>
            <a:pPr indent="0" marL="0">
              <a:buNone/>
            </a:pPr>
            <a:r>
              <a:rPr lang="en-US" sz="1600" b="1" dirty="0">
                <a:solidFill>
                  <a:srgbClr val="3C3489"/>
                </a:solidFill>
                <a:latin typeface="Arial" pitchFamily="34" charset="0"/>
                <a:ea typeface="Arial" pitchFamily="34" charset="-122"/>
                <a:cs typeface="Arial" pitchFamily="34" charset="-120"/>
              </a:rPr>
              <a:t>Model Kararları</a:t>
            </a:r>
            <a:endParaRPr lang="en-US" sz="1600" dirty="0"/>
          </a:p>
        </p:txBody>
      </p:sp>
      <p:sp>
        <p:nvSpPr>
          <p:cNvPr id="27" name="Text 25"/>
          <p:cNvSpPr/>
          <p:nvPr/>
        </p:nvSpPr>
        <p:spPr>
          <a:xfrm>
            <a:off x="4754880" y="3182112"/>
            <a:ext cx="4114800" cy="1554480"/>
          </a:xfrm>
          <a:prstGeom prst="rect">
            <a:avLst/>
          </a:prstGeom>
          <a:noFill/>
          <a:ln/>
        </p:spPr>
        <p:txBody>
          <a:bodyPr wrap="square" lIns="0" tIns="0" rIns="0" bIns="0" rtlCol="0" anchor="t"/>
          <a:lstStyle/>
          <a:p>
            <a:pPr indent="0" marL="0">
              <a:spcAft>
                <a:spcPts val="300"/>
              </a:spcAft>
              <a:buNone/>
            </a:pPr>
            <a:r>
              <a:rPr lang="en-US" sz="1300" dirty="0">
                <a:solidFill>
                  <a:srgbClr val="26215C"/>
                </a:solidFill>
                <a:latin typeface="Arial" pitchFamily="34" charset="0"/>
                <a:ea typeface="Arial" pitchFamily="34" charset="-122"/>
                <a:cs typeface="Arial" pitchFamily="34" charset="-120"/>
              </a:rPr>
              <a:t>• Random Forest — küçük veri setinde aşırı öğrenmeye dayanıklı (Breiman, 2001)
</a:t>
            </a:r>
            <a:pPr indent="0" marL="0">
              <a:spcAft>
                <a:spcPts val="300"/>
              </a:spcAft>
              <a:buNone/>
            </a:pPr>
            <a:r>
              <a:rPr lang="en-US" sz="1300" dirty="0">
                <a:solidFill>
                  <a:srgbClr val="26215C"/>
                </a:solidFill>
                <a:latin typeface="Arial" pitchFamily="34" charset="0"/>
                <a:ea typeface="Arial" pitchFamily="34" charset="-122"/>
                <a:cs typeface="Arial" pitchFamily="34" charset="-120"/>
              </a:rPr>
              <a:t>• SMOTE — sentetik azınlık örnekleme (Chawla vd., 2002)
</a:t>
            </a:r>
            <a:pPr indent="0" marL="0">
              <a:spcAft>
                <a:spcPts val="300"/>
              </a:spcAft>
              <a:buNone/>
            </a:pPr>
            <a:r>
              <a:rPr lang="en-US" sz="1300" dirty="0">
                <a:solidFill>
                  <a:srgbClr val="26215C"/>
                </a:solidFill>
                <a:latin typeface="Arial" pitchFamily="34" charset="0"/>
                <a:ea typeface="Arial" pitchFamily="34" charset="-122"/>
                <a:cs typeface="Arial" pitchFamily="34" charset="-120"/>
              </a:rPr>
              <a:t>• LOPO — veri sızıntısını önler, yeni hastaya genelleşmeyi test eder
</a:t>
            </a:r>
            <a:pPr indent="0" marL="0">
              <a:spcAft>
                <a:spcPts val="300"/>
              </a:spcAft>
              <a:buNone/>
            </a:pPr>
            <a:r>
              <a:rPr lang="en-US" sz="1300" dirty="0">
                <a:solidFill>
                  <a:srgbClr val="26215C"/>
                </a:solidFill>
                <a:latin typeface="Arial" pitchFamily="34" charset="0"/>
                <a:ea typeface="Arial" pitchFamily="34" charset="-122"/>
                <a:cs typeface="Arial" pitchFamily="34" charset="-120"/>
              </a:rPr>
              <a:t>• Eşik 0,50 → 0,13: recall %9 → %79</a:t>
            </a:r>
            <a:endParaRPr lang="en-US" sz="1300" dirty="0"/>
          </a:p>
        </p:txBody>
      </p:sp>
      <p:sp>
        <p:nvSpPr>
          <p:cNvPr id="28" name="Text 26"/>
          <p:cNvSpPr/>
          <p:nvPr/>
        </p:nvSpPr>
        <p:spPr>
          <a:xfrm>
            <a:off x="274320" y="4892040"/>
            <a:ext cx="4572000" cy="228600"/>
          </a:xfrm>
          <a:prstGeom prst="rect">
            <a:avLst/>
          </a:prstGeom>
          <a:noFill/>
          <a:ln/>
        </p:spPr>
        <p:txBody>
          <a:bodyPr wrap="square" lIns="0" tIns="0" rIns="0" bIns="0" rtlCol="0" anchor="ctr"/>
          <a:lstStyle/>
          <a:p>
            <a:pPr indent="0" marL="0">
              <a:buNone/>
            </a:pPr>
            <a:r>
              <a:rPr lang="en-US" sz="1100" dirty="0">
                <a:solidFill>
                  <a:srgbClr val="534AB7"/>
                </a:solidFill>
                <a:latin typeface="Arial" pitchFamily="34" charset="0"/>
                <a:ea typeface="Arial" pitchFamily="34" charset="-122"/>
                <a:cs typeface="Arial" pitchFamily="34" charset="-120"/>
              </a:rPr>
              <a:t>YZM310 Bitirme Projesi — Samsun Üniversitesi</a:t>
            </a:r>
            <a:endParaRPr lang="en-US" sz="1100" dirty="0"/>
          </a:p>
        </p:txBody>
      </p:sp>
      <p:sp>
        <p:nvSpPr>
          <p:cNvPr id="29" name="Text 27"/>
          <p:cNvSpPr/>
          <p:nvPr/>
        </p:nvSpPr>
        <p:spPr>
          <a:xfrm>
            <a:off x="4572000" y="4892040"/>
            <a:ext cx="4297680" cy="228600"/>
          </a:xfrm>
          <a:prstGeom prst="rect">
            <a:avLst/>
          </a:prstGeom>
          <a:noFill/>
          <a:ln/>
        </p:spPr>
        <p:txBody>
          <a:bodyPr wrap="square" lIns="0" tIns="0" rIns="0" bIns="0" rtlCol="0" anchor="ctr"/>
          <a:lstStyle/>
          <a:p>
            <a:pPr algn="r" indent="0" marL="0">
              <a:buNone/>
            </a:pPr>
            <a:r>
              <a:rPr lang="en-US" sz="1100" dirty="0">
                <a:solidFill>
                  <a:srgbClr val="534AB7"/>
                </a:solidFill>
                <a:latin typeface="Arial" pitchFamily="34" charset="0"/>
                <a:ea typeface="Arial" pitchFamily="34" charset="-122"/>
                <a:cs typeface="Arial" pitchFamily="34" charset="-120"/>
              </a:rPr>
              <a:t>2025/2026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EDFE"/>
        </a:solidFill>
      </p:bgPr>
    </p:bg>
    <p:spTree>
      <p:nvGrpSpPr>
        <p:cNvPr id="1" name=""/>
        <p:cNvGrpSpPr/>
        <p:nvPr/>
      </p:nvGrpSpPr>
      <p:grpSpPr>
        <a:xfrm>
          <a:off x="0" y="0"/>
          <a:ext cx="0" cy="0"/>
          <a:chOff x="0" y="0"/>
          <a:chExt cx="0" cy="0"/>
        </a:xfrm>
      </p:grpSpPr>
      <p:sp>
        <p:nvSpPr>
          <p:cNvPr id="2" name="Shape 0"/>
          <p:cNvSpPr/>
          <p:nvPr/>
        </p:nvSpPr>
        <p:spPr>
          <a:xfrm>
            <a:off x="0" y="0"/>
            <a:ext cx="9144000" cy="1417320"/>
          </a:xfrm>
          <a:prstGeom prst="rect">
            <a:avLst/>
          </a:prstGeom>
          <a:solidFill>
            <a:srgbClr val="3C3489"/>
          </a:solidFill>
          <a:ln w="12700">
            <a:solidFill>
              <a:srgbClr val="3C3489"/>
            </a:solidFill>
            <a:prstDash val="solid"/>
          </a:ln>
        </p:spPr>
      </p:sp>
      <p:sp>
        <p:nvSpPr>
          <p:cNvPr id="3" name="Text 1"/>
          <p:cNvSpPr/>
          <p:nvPr/>
        </p:nvSpPr>
        <p:spPr>
          <a:xfrm>
            <a:off x="365760" y="109728"/>
            <a:ext cx="8412480" cy="68580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Bulgular ve Tartışma</a:t>
            </a:r>
            <a:endParaRPr lang="en-US" sz="3600" dirty="0"/>
          </a:p>
        </p:txBody>
      </p:sp>
      <p:sp>
        <p:nvSpPr>
          <p:cNvPr id="4" name="Text 2"/>
          <p:cNvSpPr/>
          <p:nvPr/>
        </p:nvSpPr>
        <p:spPr>
          <a:xfrm>
            <a:off x="365760" y="822960"/>
            <a:ext cx="8412480" cy="457200"/>
          </a:xfrm>
          <a:prstGeom prst="rect">
            <a:avLst/>
          </a:prstGeom>
          <a:noFill/>
          <a:ln/>
        </p:spPr>
        <p:txBody>
          <a:bodyPr wrap="square" lIns="0" tIns="0" rIns="0" bIns="0" rtlCol="0" anchor="ctr"/>
          <a:lstStyle/>
          <a:p>
            <a:pPr indent="0" marL="0">
              <a:buNone/>
            </a:pPr>
            <a:r>
              <a:rPr lang="en-US" sz="1600" dirty="0">
                <a:solidFill>
                  <a:srgbClr val="CECBF6"/>
                </a:solidFill>
                <a:latin typeface="Arial" pitchFamily="34" charset="0"/>
                <a:ea typeface="Arial" pitchFamily="34" charset="-122"/>
                <a:cs typeface="Arial" pitchFamily="34" charset="-120"/>
              </a:rPr>
              <a:t>Model performansı · Öznitelik analizi</a:t>
            </a:r>
            <a:endParaRPr lang="en-US" sz="1600" dirty="0"/>
          </a:p>
        </p:txBody>
      </p:sp>
      <p:sp>
        <p:nvSpPr>
          <p:cNvPr id="5" name="Shape 3"/>
          <p:cNvSpPr/>
          <p:nvPr/>
        </p:nvSpPr>
        <p:spPr>
          <a:xfrm>
            <a:off x="274320" y="1600200"/>
            <a:ext cx="2651760" cy="1325880"/>
          </a:xfrm>
          <a:prstGeom prst="roundRect">
            <a:avLst>
              <a:gd name="adj" fmla="val 8276"/>
            </a:avLst>
          </a:prstGeom>
          <a:solidFill>
            <a:srgbClr val="3C3489"/>
          </a:solidFill>
          <a:ln w="12700">
            <a:solidFill>
              <a:srgbClr val="3C3489"/>
            </a:solidFill>
            <a:prstDash val="solid"/>
          </a:ln>
        </p:spPr>
      </p:sp>
      <p:sp>
        <p:nvSpPr>
          <p:cNvPr id="6" name="Text 4"/>
          <p:cNvSpPr/>
          <p:nvPr/>
        </p:nvSpPr>
        <p:spPr>
          <a:xfrm>
            <a:off x="274320" y="1627632"/>
            <a:ext cx="2651760" cy="685800"/>
          </a:xfrm>
          <a:prstGeom prst="rect">
            <a:avLst/>
          </a:prstGeom>
          <a:noFill/>
          <a:ln/>
        </p:spPr>
        <p:txBody>
          <a:bodyPr wrap="square" lIns="0" tIns="0" rIns="0" bIns="0" rtlCol="0" anchor="ctr"/>
          <a:lstStyle/>
          <a:p>
            <a:pPr algn="ctr" indent="0" marL="0">
              <a:buNone/>
            </a:pPr>
            <a:r>
              <a:rPr lang="en-US" sz="4600" b="1" dirty="0">
                <a:solidFill>
                  <a:srgbClr val="FFFFFF"/>
                </a:solidFill>
                <a:latin typeface="Arial" pitchFamily="34" charset="0"/>
                <a:ea typeface="Arial" pitchFamily="34" charset="-122"/>
                <a:cs typeface="Arial" pitchFamily="34" charset="-120"/>
              </a:rPr>
              <a:t>%79</a:t>
            </a:r>
            <a:endParaRPr lang="en-US" sz="4600" dirty="0"/>
          </a:p>
        </p:txBody>
      </p:sp>
      <p:sp>
        <p:nvSpPr>
          <p:cNvPr id="7" name="Text 5"/>
          <p:cNvSpPr/>
          <p:nvPr/>
        </p:nvSpPr>
        <p:spPr>
          <a:xfrm>
            <a:off x="274320" y="2313432"/>
            <a:ext cx="2651760" cy="320040"/>
          </a:xfrm>
          <a:prstGeom prst="rect">
            <a:avLst/>
          </a:prstGeom>
          <a:noFill/>
          <a:ln/>
        </p:spPr>
        <p:txBody>
          <a:bodyPr wrap="square" lIns="0" tIns="0" rIns="0" bIns="0" rtlCol="0" anchor="ctr"/>
          <a:lstStyle/>
          <a:p>
            <a:pPr algn="ctr" indent="0" marL="0">
              <a:buNone/>
            </a:pPr>
            <a:r>
              <a:rPr lang="en-US" sz="1500" b="1" dirty="0">
                <a:solidFill>
                  <a:srgbClr val="CECBF6"/>
                </a:solidFill>
                <a:latin typeface="Arial" pitchFamily="34" charset="0"/>
                <a:ea typeface="Arial" pitchFamily="34" charset="-122"/>
                <a:cs typeface="Arial" pitchFamily="34" charset="-120"/>
              </a:rPr>
              <a:t>Recall</a:t>
            </a:r>
            <a:endParaRPr lang="en-US" sz="1500" dirty="0"/>
          </a:p>
        </p:txBody>
      </p:sp>
      <p:sp>
        <p:nvSpPr>
          <p:cNvPr id="8" name="Text 6"/>
          <p:cNvSpPr/>
          <p:nvPr/>
        </p:nvSpPr>
        <p:spPr>
          <a:xfrm>
            <a:off x="274320" y="2633472"/>
            <a:ext cx="2651760" cy="256032"/>
          </a:xfrm>
          <a:prstGeom prst="rect">
            <a:avLst/>
          </a:prstGeom>
          <a:noFill/>
          <a:ln/>
        </p:spPr>
        <p:txBody>
          <a:bodyPr wrap="square" lIns="0" tIns="0" rIns="0" bIns="0" rtlCol="0" anchor="ctr"/>
          <a:lstStyle/>
          <a:p>
            <a:pPr algn="ctr" indent="0" marL="0">
              <a:buNone/>
            </a:pPr>
            <a:r>
              <a:rPr lang="en-US" sz="1100" dirty="0">
                <a:solidFill>
                  <a:srgbClr val="CECBF6"/>
                </a:solidFill>
                <a:latin typeface="Arial" pitchFamily="34" charset="0"/>
                <a:ea typeface="Arial" pitchFamily="34" charset="-122"/>
                <a:cs typeface="Arial" pitchFamily="34" charset="-120"/>
              </a:rPr>
              <a:t>Başarı kriteri: ≥%70 ✓</a:t>
            </a:r>
            <a:endParaRPr lang="en-US" sz="1100" dirty="0"/>
          </a:p>
        </p:txBody>
      </p:sp>
      <p:sp>
        <p:nvSpPr>
          <p:cNvPr id="9" name="Shape 7"/>
          <p:cNvSpPr/>
          <p:nvPr/>
        </p:nvSpPr>
        <p:spPr>
          <a:xfrm>
            <a:off x="3200400" y="1600200"/>
            <a:ext cx="2651760" cy="1325880"/>
          </a:xfrm>
          <a:prstGeom prst="roundRect">
            <a:avLst>
              <a:gd name="adj" fmla="val 8276"/>
            </a:avLst>
          </a:prstGeom>
          <a:solidFill>
            <a:srgbClr val="3C3489"/>
          </a:solidFill>
          <a:ln w="12700">
            <a:solidFill>
              <a:srgbClr val="3C3489"/>
            </a:solidFill>
            <a:prstDash val="solid"/>
          </a:ln>
        </p:spPr>
      </p:sp>
      <p:sp>
        <p:nvSpPr>
          <p:cNvPr id="10" name="Text 8"/>
          <p:cNvSpPr/>
          <p:nvPr/>
        </p:nvSpPr>
        <p:spPr>
          <a:xfrm>
            <a:off x="3200400" y="1627632"/>
            <a:ext cx="2651760" cy="685800"/>
          </a:xfrm>
          <a:prstGeom prst="rect">
            <a:avLst/>
          </a:prstGeom>
          <a:noFill/>
          <a:ln/>
        </p:spPr>
        <p:txBody>
          <a:bodyPr wrap="square" lIns="0" tIns="0" rIns="0" bIns="0" rtlCol="0" anchor="ctr"/>
          <a:lstStyle/>
          <a:p>
            <a:pPr algn="ctr" indent="0" marL="0">
              <a:buNone/>
            </a:pPr>
            <a:r>
              <a:rPr lang="en-US" sz="4600" b="1" dirty="0">
                <a:solidFill>
                  <a:srgbClr val="FFFFFF"/>
                </a:solidFill>
                <a:latin typeface="Arial" pitchFamily="34" charset="0"/>
                <a:ea typeface="Arial" pitchFamily="34" charset="-122"/>
                <a:cs typeface="Arial" pitchFamily="34" charset="-120"/>
              </a:rPr>
              <a:t>0.655</a:t>
            </a:r>
            <a:endParaRPr lang="en-US" sz="4600" dirty="0"/>
          </a:p>
        </p:txBody>
      </p:sp>
      <p:sp>
        <p:nvSpPr>
          <p:cNvPr id="11" name="Text 9"/>
          <p:cNvSpPr/>
          <p:nvPr/>
        </p:nvSpPr>
        <p:spPr>
          <a:xfrm>
            <a:off x="3200400" y="2313432"/>
            <a:ext cx="2651760" cy="320040"/>
          </a:xfrm>
          <a:prstGeom prst="rect">
            <a:avLst/>
          </a:prstGeom>
          <a:noFill/>
          <a:ln/>
        </p:spPr>
        <p:txBody>
          <a:bodyPr wrap="square" lIns="0" tIns="0" rIns="0" bIns="0" rtlCol="0" anchor="ctr"/>
          <a:lstStyle/>
          <a:p>
            <a:pPr algn="ctr" indent="0" marL="0">
              <a:buNone/>
            </a:pPr>
            <a:r>
              <a:rPr lang="en-US" sz="1500" b="1" dirty="0">
                <a:solidFill>
                  <a:srgbClr val="CECBF6"/>
                </a:solidFill>
                <a:latin typeface="Arial" pitchFamily="34" charset="0"/>
                <a:ea typeface="Arial" pitchFamily="34" charset="-122"/>
                <a:cs typeface="Arial" pitchFamily="34" charset="-120"/>
              </a:rPr>
              <a:t>ROC-AUC</a:t>
            </a:r>
            <a:endParaRPr lang="en-US" sz="1500" dirty="0"/>
          </a:p>
        </p:txBody>
      </p:sp>
      <p:sp>
        <p:nvSpPr>
          <p:cNvPr id="12" name="Text 10"/>
          <p:cNvSpPr/>
          <p:nvPr/>
        </p:nvSpPr>
        <p:spPr>
          <a:xfrm>
            <a:off x="3200400" y="2633472"/>
            <a:ext cx="2651760" cy="256032"/>
          </a:xfrm>
          <a:prstGeom prst="rect">
            <a:avLst/>
          </a:prstGeom>
          <a:noFill/>
          <a:ln/>
        </p:spPr>
        <p:txBody>
          <a:bodyPr wrap="square" lIns="0" tIns="0" rIns="0" bIns="0" rtlCol="0" anchor="ctr"/>
          <a:lstStyle/>
          <a:p>
            <a:pPr algn="ctr" indent="0" marL="0">
              <a:buNone/>
            </a:pPr>
            <a:r>
              <a:rPr lang="en-US" sz="1100" dirty="0">
                <a:solidFill>
                  <a:srgbClr val="CECBF6"/>
                </a:solidFill>
                <a:latin typeface="Arial" pitchFamily="34" charset="0"/>
                <a:ea typeface="Arial" pitchFamily="34" charset="-122"/>
                <a:cs typeface="Arial" pitchFamily="34" charset="-120"/>
              </a:rPr>
              <a:t>Şans düzeyi: 0.50</a:t>
            </a:r>
            <a:endParaRPr lang="en-US" sz="1100" dirty="0"/>
          </a:p>
        </p:txBody>
      </p:sp>
      <p:sp>
        <p:nvSpPr>
          <p:cNvPr id="13" name="Shape 11"/>
          <p:cNvSpPr/>
          <p:nvPr/>
        </p:nvSpPr>
        <p:spPr>
          <a:xfrm>
            <a:off x="6126480" y="1600200"/>
            <a:ext cx="2651760" cy="1325880"/>
          </a:xfrm>
          <a:prstGeom prst="roundRect">
            <a:avLst>
              <a:gd name="adj" fmla="val 8276"/>
            </a:avLst>
          </a:prstGeom>
          <a:solidFill>
            <a:srgbClr val="3C3489"/>
          </a:solidFill>
          <a:ln w="12700">
            <a:solidFill>
              <a:srgbClr val="3C3489"/>
            </a:solidFill>
            <a:prstDash val="solid"/>
          </a:ln>
        </p:spPr>
      </p:sp>
      <p:sp>
        <p:nvSpPr>
          <p:cNvPr id="14" name="Text 12"/>
          <p:cNvSpPr/>
          <p:nvPr/>
        </p:nvSpPr>
        <p:spPr>
          <a:xfrm>
            <a:off x="6126480" y="1627632"/>
            <a:ext cx="2651760" cy="685800"/>
          </a:xfrm>
          <a:prstGeom prst="rect">
            <a:avLst/>
          </a:prstGeom>
          <a:noFill/>
          <a:ln/>
        </p:spPr>
        <p:txBody>
          <a:bodyPr wrap="square" lIns="0" tIns="0" rIns="0" bIns="0" rtlCol="0" anchor="ctr"/>
          <a:lstStyle/>
          <a:p>
            <a:pPr algn="ctr" indent="0" marL="0">
              <a:buNone/>
            </a:pPr>
            <a:r>
              <a:rPr lang="en-US" sz="4600" b="1" dirty="0">
                <a:solidFill>
                  <a:srgbClr val="FFFFFF"/>
                </a:solidFill>
                <a:latin typeface="Arial" pitchFamily="34" charset="0"/>
                <a:ea typeface="Arial" pitchFamily="34" charset="-122"/>
                <a:cs typeface="Arial" pitchFamily="34" charset="-120"/>
              </a:rPr>
              <a:t>0.13</a:t>
            </a:r>
            <a:endParaRPr lang="en-US" sz="4600" dirty="0"/>
          </a:p>
        </p:txBody>
      </p:sp>
      <p:sp>
        <p:nvSpPr>
          <p:cNvPr id="15" name="Text 13"/>
          <p:cNvSpPr/>
          <p:nvPr/>
        </p:nvSpPr>
        <p:spPr>
          <a:xfrm>
            <a:off x="6126480" y="2313432"/>
            <a:ext cx="2651760" cy="320040"/>
          </a:xfrm>
          <a:prstGeom prst="rect">
            <a:avLst/>
          </a:prstGeom>
          <a:noFill/>
          <a:ln/>
        </p:spPr>
        <p:txBody>
          <a:bodyPr wrap="square" lIns="0" tIns="0" rIns="0" bIns="0" rtlCol="0" anchor="ctr"/>
          <a:lstStyle/>
          <a:p>
            <a:pPr algn="ctr" indent="0" marL="0">
              <a:buNone/>
            </a:pPr>
            <a:r>
              <a:rPr lang="en-US" sz="1500" b="1" dirty="0">
                <a:solidFill>
                  <a:srgbClr val="CECBF6"/>
                </a:solidFill>
                <a:latin typeface="Arial" pitchFamily="34" charset="0"/>
                <a:ea typeface="Arial" pitchFamily="34" charset="-122"/>
                <a:cs typeface="Arial" pitchFamily="34" charset="-120"/>
              </a:rPr>
              <a:t>Karar Eşiği</a:t>
            </a:r>
            <a:endParaRPr lang="en-US" sz="1500" dirty="0"/>
          </a:p>
        </p:txBody>
      </p:sp>
      <p:sp>
        <p:nvSpPr>
          <p:cNvPr id="16" name="Text 14"/>
          <p:cNvSpPr/>
          <p:nvPr/>
        </p:nvSpPr>
        <p:spPr>
          <a:xfrm>
            <a:off x="6126480" y="2633472"/>
            <a:ext cx="2651760" cy="256032"/>
          </a:xfrm>
          <a:prstGeom prst="rect">
            <a:avLst/>
          </a:prstGeom>
          <a:noFill/>
          <a:ln/>
        </p:spPr>
        <p:txBody>
          <a:bodyPr wrap="square" lIns="0" tIns="0" rIns="0" bIns="0" rtlCol="0" anchor="ctr"/>
          <a:lstStyle/>
          <a:p>
            <a:pPr algn="ctr" indent="0" marL="0">
              <a:buNone/>
            </a:pPr>
            <a:r>
              <a:rPr lang="en-US" sz="1100" dirty="0">
                <a:solidFill>
                  <a:srgbClr val="CECBF6"/>
                </a:solidFill>
                <a:latin typeface="Arial" pitchFamily="34" charset="0"/>
                <a:ea typeface="Arial" pitchFamily="34" charset="-122"/>
                <a:cs typeface="Arial" pitchFamily="34" charset="-120"/>
              </a:rPr>
              <a:t>Klinik gerekçeli</a:t>
            </a:r>
            <a:endParaRPr lang="en-US" sz="1100" dirty="0"/>
          </a:p>
        </p:txBody>
      </p:sp>
      <p:sp>
        <p:nvSpPr>
          <p:cNvPr id="17" name="Text 15"/>
          <p:cNvSpPr/>
          <p:nvPr/>
        </p:nvSpPr>
        <p:spPr>
          <a:xfrm>
            <a:off x="365760" y="3017520"/>
            <a:ext cx="5029200" cy="292608"/>
          </a:xfrm>
          <a:prstGeom prst="rect">
            <a:avLst/>
          </a:prstGeom>
          <a:noFill/>
          <a:ln/>
        </p:spPr>
        <p:txBody>
          <a:bodyPr wrap="square" lIns="0" tIns="0" rIns="0" bIns="0" rtlCol="0" anchor="ctr"/>
          <a:lstStyle/>
          <a:p>
            <a:pPr indent="0" marL="0">
              <a:buNone/>
            </a:pPr>
            <a:r>
              <a:rPr lang="en-US" sz="1400" b="1" dirty="0">
                <a:solidFill>
                  <a:srgbClr val="3C3489"/>
                </a:solidFill>
                <a:latin typeface="Arial" pitchFamily="34" charset="0"/>
                <a:ea typeface="Arial" pitchFamily="34" charset="-122"/>
                <a:cs typeface="Arial" pitchFamily="34" charset="-120"/>
              </a:rPr>
              <a:t>En Öngörülü Öznitelikler (model_config.json)</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3337560"/>
          <a:ext cx="5029200" cy="1508760"/>
        </p:xfrm>
        <a:graphic>
          <a:graphicData uri="http://schemas.openxmlformats.org/drawingml/2006/table">
            <a:tbl>
              <a:tblPr/>
              <a:tblGrid>
                <a:gridCol w="3749040"/>
                <a:gridCol w="1280160"/>
              </a:tblGrid>
              <a:tr h="251460">
                <a:tc>
                  <a:txBody>
                    <a:bodyPr/>
                    <a:lstStyle/>
                    <a:p>
                      <a:pPr algn="l" indent="0" marL="0">
                        <a:buNone/>
                      </a:pPr>
                      <a:r>
                        <a:rPr lang="en-US" sz="1200" b="1" dirty="0">
                          <a:solidFill>
                            <a:srgbClr val="FFFFFF"/>
                          </a:solidFill>
                          <a:latin typeface="Arial" pitchFamily="34" charset="0"/>
                          <a:ea typeface="Arial" pitchFamily="34" charset="-122"/>
                          <a:cs typeface="Arial" pitchFamily="34" charset="-120"/>
                        </a:rPr>
                        <a:t>Öznitelik</a:t>
                      </a:r>
                      <a:endParaRPr lang="en-US" sz="1200" dirty="0">
                        <a:latin typeface="Arial" charset="0"/>
                        <a:ea typeface="Arial" charset="0"/>
                        <a:cs typeface="Arial" charset="0"/>
                      </a:endParaRPr>
                    </a:p>
                  </a:txBody>
                  <a:tcPr marL="76200" marR="76200" marT="50800" marB="50800">
                    <a:lnL w="6350" cap="flat" cmpd="sng" algn="ctr">
                      <a:solidFill>
                        <a:srgbClr val="D0CEED"/>
                      </a:solidFill>
                      <a:prstDash val="solid"/>
                      <a:round/>
                      <a:headEnd type="none" w="med" len="med"/>
                      <a:tailEnd type="none" w="med" len="med"/>
                    </a:lnL>
                    <a:lnR w="6350" cap="flat" cmpd="sng" algn="ctr">
                      <a:solidFill>
                        <a:srgbClr val="D0CEED"/>
                      </a:solidFill>
                      <a:prstDash val="solid"/>
                      <a:round/>
                      <a:headEnd type="none" w="med" len="med"/>
                      <a:tailEnd type="none" w="med" len="med"/>
                    </a:lnR>
                    <a:lnT w="6350" cap="flat" cmpd="sng" algn="ctr">
                      <a:solidFill>
                        <a:srgbClr val="D0CEED"/>
                      </a:solidFill>
                      <a:prstDash val="solid"/>
                      <a:round/>
                      <a:headEnd type="none" w="med" len="med"/>
                      <a:tailEnd type="none" w="med" len="med"/>
                    </a:lnT>
                    <a:lnB w="6350" cap="flat" cmpd="sng" algn="ctr">
                      <a:solidFill>
                        <a:srgbClr val="D0CEED"/>
                      </a:solidFill>
                      <a:prstDash val="solid"/>
                      <a:round/>
                      <a:headEnd type="none" w="med" len="med"/>
                      <a:tailEnd type="none" w="med" len="med"/>
                    </a:lnB>
                    <a:solidFill>
                      <a:srgbClr val="3C348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Önem Skoru</a:t>
                      </a:r>
                      <a:endParaRPr lang="en-US" sz="1200" dirty="0">
                        <a:latin typeface="Arial" charset="0"/>
                        <a:ea typeface="Arial" charset="0"/>
                        <a:cs typeface="Arial" charset="0"/>
                      </a:endParaRPr>
                    </a:p>
                  </a:txBody>
                  <a:tcPr marL="76200" marR="76200" marT="50800" marB="50800">
                    <a:lnL w="6350" cap="flat" cmpd="sng" algn="ctr">
                      <a:solidFill>
                        <a:srgbClr val="D0CEED"/>
                      </a:solidFill>
                      <a:prstDash val="solid"/>
                      <a:round/>
                      <a:headEnd type="none" w="med" len="med"/>
                      <a:tailEnd type="none" w="med" len="med"/>
                    </a:lnL>
                    <a:lnR w="6350" cap="flat" cmpd="sng" algn="ctr">
                      <a:solidFill>
                        <a:srgbClr val="D0CEED"/>
                      </a:solidFill>
                      <a:prstDash val="solid"/>
                      <a:round/>
                      <a:headEnd type="none" w="med" len="med"/>
                      <a:tailEnd type="none" w="med" len="med"/>
                    </a:lnR>
                    <a:lnT w="6350" cap="flat" cmpd="sng" algn="ctr">
                      <a:solidFill>
                        <a:srgbClr val="D0CEED"/>
                      </a:solidFill>
                      <a:prstDash val="solid"/>
                      <a:round/>
                      <a:headEnd type="none" w="med" len="med"/>
                      <a:tailEnd type="none" w="med" len="med"/>
                    </a:lnT>
                    <a:lnB w="6350" cap="flat" cmpd="sng" algn="ctr">
                      <a:solidFill>
                        <a:srgbClr val="D0CEED"/>
                      </a:solidFill>
                      <a:prstDash val="solid"/>
                      <a:round/>
                      <a:headEnd type="none" w="med" len="med"/>
                      <a:tailEnd type="none" w="med" len="med"/>
                    </a:lnB>
                    <a:solidFill>
                      <a:srgbClr val="3C3489"/>
                    </a:solidFill>
                  </a:tcPr>
                </a:tc>
              </a:tr>
              <a:tr h="251460">
                <a:tc>
                  <a:txBody>
                    <a:bodyPr/>
                    <a:lstStyle/>
                    <a:p>
                      <a:pPr algn="l" indent="0" marL="0">
                        <a:buNone/>
                      </a:pPr>
                      <a:r>
                        <a:rPr lang="en-US" sz="1200" dirty="0">
                          <a:solidFill>
                            <a:srgbClr val="26215C"/>
                          </a:solidFill>
                          <a:latin typeface="Arial" pitchFamily="34" charset="0"/>
                          <a:ea typeface="Arial" pitchFamily="34" charset="-122"/>
                          <a:cs typeface="Arial" pitchFamily="34" charset="-120"/>
                        </a:rPr>
                        <a:t>dev_Hallway — Koridor sapması</a:t>
                      </a:r>
                      <a:endParaRPr lang="en-US" sz="1200" dirty="0">
                        <a:latin typeface="Arial" charset="0"/>
                        <a:ea typeface="Arial" charset="0"/>
                        <a:cs typeface="Arial" charset="0"/>
                      </a:endParaRPr>
                    </a:p>
                  </a:txBody>
                  <a:tcPr marL="76200" marR="76200" marT="50800" marB="50800">
                    <a:lnL w="6350" cap="flat" cmpd="sng" algn="ctr">
                      <a:solidFill>
                        <a:srgbClr val="D0CEED"/>
                      </a:solidFill>
                      <a:prstDash val="solid"/>
                      <a:round/>
                      <a:headEnd type="none" w="med" len="med"/>
                      <a:tailEnd type="none" w="med" len="med"/>
                    </a:lnL>
                    <a:lnR w="6350" cap="flat" cmpd="sng" algn="ctr">
                      <a:solidFill>
                        <a:srgbClr val="D0CEED"/>
                      </a:solidFill>
                      <a:prstDash val="solid"/>
                      <a:round/>
                      <a:headEnd type="none" w="med" len="med"/>
                      <a:tailEnd type="none" w="med" len="med"/>
                    </a:lnR>
                    <a:lnT w="6350" cap="flat" cmpd="sng" algn="ctr">
                      <a:solidFill>
                        <a:srgbClr val="D0CEED"/>
                      </a:solidFill>
                      <a:prstDash val="solid"/>
                      <a:round/>
                      <a:headEnd type="none" w="med" len="med"/>
                      <a:tailEnd type="none" w="med" len="med"/>
                    </a:lnT>
                    <a:lnB w="6350" cap="flat" cmpd="sng" algn="ctr">
                      <a:solidFill>
                        <a:srgbClr val="D0CEE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15C"/>
                          </a:solidFill>
                          <a:latin typeface="Arial" pitchFamily="34" charset="0"/>
                          <a:ea typeface="Arial" pitchFamily="34" charset="-122"/>
                          <a:cs typeface="Arial" pitchFamily="34" charset="-120"/>
                        </a:rPr>
                        <a:t>0.133</a:t>
                      </a:r>
                      <a:endParaRPr lang="en-US" sz="1200" dirty="0">
                        <a:latin typeface="Arial" charset="0"/>
                        <a:ea typeface="Arial" charset="0"/>
                        <a:cs typeface="Arial" charset="0"/>
                      </a:endParaRPr>
                    </a:p>
                  </a:txBody>
                  <a:tcPr marL="76200" marR="76200" marT="50800" marB="50800">
                    <a:lnL w="6350" cap="flat" cmpd="sng" algn="ctr">
                      <a:solidFill>
                        <a:srgbClr val="D0CEED"/>
                      </a:solidFill>
                      <a:prstDash val="solid"/>
                      <a:round/>
                      <a:headEnd type="none" w="med" len="med"/>
                      <a:tailEnd type="none" w="med" len="med"/>
                    </a:lnL>
                    <a:lnR w="6350" cap="flat" cmpd="sng" algn="ctr">
                      <a:solidFill>
                        <a:srgbClr val="D0CEED"/>
                      </a:solidFill>
                      <a:prstDash val="solid"/>
                      <a:round/>
                      <a:headEnd type="none" w="med" len="med"/>
                      <a:tailEnd type="none" w="med" len="med"/>
                    </a:lnR>
                    <a:lnT w="6350" cap="flat" cmpd="sng" algn="ctr">
                      <a:solidFill>
                        <a:srgbClr val="D0CEED"/>
                      </a:solidFill>
                      <a:prstDash val="solid"/>
                      <a:round/>
                      <a:headEnd type="none" w="med" len="med"/>
                      <a:tailEnd type="none" w="med" len="med"/>
                    </a:lnT>
                    <a:lnB w="6350" cap="flat" cmpd="sng" algn="ctr">
                      <a:solidFill>
                        <a:srgbClr val="D0CEED"/>
                      </a:solidFill>
                      <a:prstDash val="solid"/>
                      <a:round/>
                      <a:headEnd type="none" w="med" len="med"/>
                      <a:tailEnd type="none" w="med" len="med"/>
                    </a:lnB>
                    <a:solidFill>
                      <a:srgbClr val="FFFFFF"/>
                    </a:solidFill>
                  </a:tcPr>
                </a:tc>
              </a:tr>
              <a:tr h="251460">
                <a:tc>
                  <a:txBody>
                    <a:bodyPr/>
                    <a:lstStyle/>
                    <a:p>
                      <a:pPr algn="l" indent="0" marL="0">
                        <a:buNone/>
                      </a:pPr>
                      <a:r>
                        <a:rPr lang="en-US" sz="1200" dirty="0">
                          <a:solidFill>
                            <a:srgbClr val="26215C"/>
                          </a:solidFill>
                          <a:latin typeface="Arial" pitchFamily="34" charset="0"/>
                          <a:ea typeface="Arial" pitchFamily="34" charset="-122"/>
                          <a:cs typeface="Arial" pitchFamily="34" charset="-120"/>
                        </a:rPr>
                        <a:t>dev_total_movements — Toplam hareket sapması</a:t>
                      </a:r>
                      <a:endParaRPr lang="en-US" sz="1200" dirty="0">
                        <a:latin typeface="Arial" charset="0"/>
                        <a:ea typeface="Arial" charset="0"/>
                        <a:cs typeface="Arial" charset="0"/>
                      </a:endParaRPr>
                    </a:p>
                  </a:txBody>
                  <a:tcPr marL="76200" marR="76200" marT="50800" marB="50800">
                    <a:lnL w="6350" cap="flat" cmpd="sng" algn="ctr">
                      <a:solidFill>
                        <a:srgbClr val="D0CEED"/>
                      </a:solidFill>
                      <a:prstDash val="solid"/>
                      <a:round/>
                      <a:headEnd type="none" w="med" len="med"/>
                      <a:tailEnd type="none" w="med" len="med"/>
                    </a:lnL>
                    <a:lnR w="6350" cap="flat" cmpd="sng" algn="ctr">
                      <a:solidFill>
                        <a:srgbClr val="D0CEED"/>
                      </a:solidFill>
                      <a:prstDash val="solid"/>
                      <a:round/>
                      <a:headEnd type="none" w="med" len="med"/>
                      <a:tailEnd type="none" w="med" len="med"/>
                    </a:lnR>
                    <a:lnT w="6350" cap="flat" cmpd="sng" algn="ctr">
                      <a:solidFill>
                        <a:srgbClr val="D0CEED"/>
                      </a:solidFill>
                      <a:prstDash val="solid"/>
                      <a:round/>
                      <a:headEnd type="none" w="med" len="med"/>
                      <a:tailEnd type="none" w="med" len="med"/>
                    </a:lnT>
                    <a:lnB w="6350" cap="flat" cmpd="sng" algn="ctr">
                      <a:solidFill>
                        <a:srgbClr val="D0CEED"/>
                      </a:solidFill>
                      <a:prstDash val="solid"/>
                      <a:round/>
                      <a:headEnd type="none" w="med" len="med"/>
                      <a:tailEnd type="none" w="med" len="med"/>
                    </a:lnB>
                    <a:solidFill>
                      <a:srgbClr val="E8E6FA"/>
                    </a:solidFill>
                  </a:tcPr>
                </a:tc>
                <a:tc>
                  <a:txBody>
                    <a:bodyPr/>
                    <a:lstStyle/>
                    <a:p>
                      <a:pPr algn="ctr" indent="0" marL="0">
                        <a:buNone/>
                      </a:pPr>
                      <a:r>
                        <a:rPr lang="en-US" sz="1200" dirty="0">
                          <a:solidFill>
                            <a:srgbClr val="26215C"/>
                          </a:solidFill>
                          <a:latin typeface="Arial" pitchFamily="34" charset="0"/>
                          <a:ea typeface="Arial" pitchFamily="34" charset="-122"/>
                          <a:cs typeface="Arial" pitchFamily="34" charset="-120"/>
                        </a:rPr>
                        <a:t>0.105</a:t>
                      </a:r>
                      <a:endParaRPr lang="en-US" sz="1200" dirty="0">
                        <a:latin typeface="Arial" charset="0"/>
                        <a:ea typeface="Arial" charset="0"/>
                        <a:cs typeface="Arial" charset="0"/>
                      </a:endParaRPr>
                    </a:p>
                  </a:txBody>
                  <a:tcPr marL="76200" marR="76200" marT="50800" marB="50800">
                    <a:lnL w="6350" cap="flat" cmpd="sng" algn="ctr">
                      <a:solidFill>
                        <a:srgbClr val="D0CEED"/>
                      </a:solidFill>
                      <a:prstDash val="solid"/>
                      <a:round/>
                      <a:headEnd type="none" w="med" len="med"/>
                      <a:tailEnd type="none" w="med" len="med"/>
                    </a:lnL>
                    <a:lnR w="6350" cap="flat" cmpd="sng" algn="ctr">
                      <a:solidFill>
                        <a:srgbClr val="D0CEED"/>
                      </a:solidFill>
                      <a:prstDash val="solid"/>
                      <a:round/>
                      <a:headEnd type="none" w="med" len="med"/>
                      <a:tailEnd type="none" w="med" len="med"/>
                    </a:lnR>
                    <a:lnT w="6350" cap="flat" cmpd="sng" algn="ctr">
                      <a:solidFill>
                        <a:srgbClr val="D0CEED"/>
                      </a:solidFill>
                      <a:prstDash val="solid"/>
                      <a:round/>
                      <a:headEnd type="none" w="med" len="med"/>
                      <a:tailEnd type="none" w="med" len="med"/>
                    </a:lnT>
                    <a:lnB w="6350" cap="flat" cmpd="sng" algn="ctr">
                      <a:solidFill>
                        <a:srgbClr val="D0CEED"/>
                      </a:solidFill>
                      <a:prstDash val="solid"/>
                      <a:round/>
                      <a:headEnd type="none" w="med" len="med"/>
                      <a:tailEnd type="none" w="med" len="med"/>
                    </a:lnB>
                    <a:solidFill>
                      <a:srgbClr val="E8E6FA"/>
                    </a:solidFill>
                  </a:tcPr>
                </a:tc>
              </a:tr>
              <a:tr h="251460">
                <a:tc>
                  <a:txBody>
                    <a:bodyPr/>
                    <a:lstStyle/>
                    <a:p>
                      <a:pPr algn="l" indent="0" marL="0">
                        <a:buNone/>
                      </a:pPr>
                      <a:r>
                        <a:rPr lang="en-US" sz="1200" dirty="0">
                          <a:solidFill>
                            <a:srgbClr val="26215C"/>
                          </a:solidFill>
                          <a:latin typeface="Arial" pitchFamily="34" charset="0"/>
                          <a:ea typeface="Arial" pitchFamily="34" charset="-122"/>
                          <a:cs typeface="Arial" pitchFamily="34" charset="-120"/>
                        </a:rPr>
                        <a:t>dev_first_movement_hour — İlk hareket saati</a:t>
                      </a:r>
                      <a:endParaRPr lang="en-US" sz="1200" dirty="0">
                        <a:latin typeface="Arial" charset="0"/>
                        <a:ea typeface="Arial" charset="0"/>
                        <a:cs typeface="Arial" charset="0"/>
                      </a:endParaRPr>
                    </a:p>
                  </a:txBody>
                  <a:tcPr marL="76200" marR="76200" marT="50800" marB="50800">
                    <a:lnL w="6350" cap="flat" cmpd="sng" algn="ctr">
                      <a:solidFill>
                        <a:srgbClr val="D0CEED"/>
                      </a:solidFill>
                      <a:prstDash val="solid"/>
                      <a:round/>
                      <a:headEnd type="none" w="med" len="med"/>
                      <a:tailEnd type="none" w="med" len="med"/>
                    </a:lnL>
                    <a:lnR w="6350" cap="flat" cmpd="sng" algn="ctr">
                      <a:solidFill>
                        <a:srgbClr val="D0CEED"/>
                      </a:solidFill>
                      <a:prstDash val="solid"/>
                      <a:round/>
                      <a:headEnd type="none" w="med" len="med"/>
                      <a:tailEnd type="none" w="med" len="med"/>
                    </a:lnR>
                    <a:lnT w="6350" cap="flat" cmpd="sng" algn="ctr">
                      <a:solidFill>
                        <a:srgbClr val="D0CEED"/>
                      </a:solidFill>
                      <a:prstDash val="solid"/>
                      <a:round/>
                      <a:headEnd type="none" w="med" len="med"/>
                      <a:tailEnd type="none" w="med" len="med"/>
                    </a:lnT>
                    <a:lnB w="6350" cap="flat" cmpd="sng" algn="ctr">
                      <a:solidFill>
                        <a:srgbClr val="D0CEE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15C"/>
                          </a:solidFill>
                          <a:latin typeface="Arial" pitchFamily="34" charset="0"/>
                          <a:ea typeface="Arial" pitchFamily="34" charset="-122"/>
                          <a:cs typeface="Arial" pitchFamily="34" charset="-120"/>
                        </a:rPr>
                        <a:t>0.088</a:t>
                      </a:r>
                      <a:endParaRPr lang="en-US" sz="1200" dirty="0">
                        <a:latin typeface="Arial" charset="0"/>
                        <a:ea typeface="Arial" charset="0"/>
                        <a:cs typeface="Arial" charset="0"/>
                      </a:endParaRPr>
                    </a:p>
                  </a:txBody>
                  <a:tcPr marL="76200" marR="76200" marT="50800" marB="50800">
                    <a:lnL w="6350" cap="flat" cmpd="sng" algn="ctr">
                      <a:solidFill>
                        <a:srgbClr val="D0CEED"/>
                      </a:solidFill>
                      <a:prstDash val="solid"/>
                      <a:round/>
                      <a:headEnd type="none" w="med" len="med"/>
                      <a:tailEnd type="none" w="med" len="med"/>
                    </a:lnL>
                    <a:lnR w="6350" cap="flat" cmpd="sng" algn="ctr">
                      <a:solidFill>
                        <a:srgbClr val="D0CEED"/>
                      </a:solidFill>
                      <a:prstDash val="solid"/>
                      <a:round/>
                      <a:headEnd type="none" w="med" len="med"/>
                      <a:tailEnd type="none" w="med" len="med"/>
                    </a:lnR>
                    <a:lnT w="6350" cap="flat" cmpd="sng" algn="ctr">
                      <a:solidFill>
                        <a:srgbClr val="D0CEED"/>
                      </a:solidFill>
                      <a:prstDash val="solid"/>
                      <a:round/>
                      <a:headEnd type="none" w="med" len="med"/>
                      <a:tailEnd type="none" w="med" len="med"/>
                    </a:lnT>
                    <a:lnB w="6350" cap="flat" cmpd="sng" algn="ctr">
                      <a:solidFill>
                        <a:srgbClr val="D0CEED"/>
                      </a:solidFill>
                      <a:prstDash val="solid"/>
                      <a:round/>
                      <a:headEnd type="none" w="med" len="med"/>
                      <a:tailEnd type="none" w="med" len="med"/>
                    </a:lnB>
                    <a:solidFill>
                      <a:srgbClr val="FFFFFF"/>
                    </a:solidFill>
                  </a:tcPr>
                </a:tc>
              </a:tr>
              <a:tr h="251460">
                <a:tc>
                  <a:txBody>
                    <a:bodyPr/>
                    <a:lstStyle/>
                    <a:p>
                      <a:pPr algn="l" indent="0" marL="0">
                        <a:buNone/>
                      </a:pPr>
                      <a:r>
                        <a:rPr lang="en-US" sz="1200" dirty="0">
                          <a:solidFill>
                            <a:srgbClr val="26215C"/>
                          </a:solidFill>
                          <a:latin typeface="Arial" pitchFamily="34" charset="0"/>
                          <a:ea typeface="Arial" pitchFamily="34" charset="-122"/>
                          <a:cs typeface="Arial" pitchFamily="34" charset="-120"/>
                        </a:rPr>
                        <a:t>dev_Kitchen — Mutfak sapması</a:t>
                      </a:r>
                      <a:endParaRPr lang="en-US" sz="1200" dirty="0">
                        <a:latin typeface="Arial" charset="0"/>
                        <a:ea typeface="Arial" charset="0"/>
                        <a:cs typeface="Arial" charset="0"/>
                      </a:endParaRPr>
                    </a:p>
                  </a:txBody>
                  <a:tcPr marL="76200" marR="76200" marT="50800" marB="50800">
                    <a:lnL w="6350" cap="flat" cmpd="sng" algn="ctr">
                      <a:solidFill>
                        <a:srgbClr val="D0CEED"/>
                      </a:solidFill>
                      <a:prstDash val="solid"/>
                      <a:round/>
                      <a:headEnd type="none" w="med" len="med"/>
                      <a:tailEnd type="none" w="med" len="med"/>
                    </a:lnL>
                    <a:lnR w="6350" cap="flat" cmpd="sng" algn="ctr">
                      <a:solidFill>
                        <a:srgbClr val="D0CEED"/>
                      </a:solidFill>
                      <a:prstDash val="solid"/>
                      <a:round/>
                      <a:headEnd type="none" w="med" len="med"/>
                      <a:tailEnd type="none" w="med" len="med"/>
                    </a:lnR>
                    <a:lnT w="6350" cap="flat" cmpd="sng" algn="ctr">
                      <a:solidFill>
                        <a:srgbClr val="D0CEED"/>
                      </a:solidFill>
                      <a:prstDash val="solid"/>
                      <a:round/>
                      <a:headEnd type="none" w="med" len="med"/>
                      <a:tailEnd type="none" w="med" len="med"/>
                    </a:lnT>
                    <a:lnB w="6350" cap="flat" cmpd="sng" algn="ctr">
                      <a:solidFill>
                        <a:srgbClr val="D0CEED"/>
                      </a:solidFill>
                      <a:prstDash val="solid"/>
                      <a:round/>
                      <a:headEnd type="none" w="med" len="med"/>
                      <a:tailEnd type="none" w="med" len="med"/>
                    </a:lnB>
                    <a:solidFill>
                      <a:srgbClr val="E8E6FA"/>
                    </a:solidFill>
                  </a:tcPr>
                </a:tc>
                <a:tc>
                  <a:txBody>
                    <a:bodyPr/>
                    <a:lstStyle/>
                    <a:p>
                      <a:pPr algn="ctr" indent="0" marL="0">
                        <a:buNone/>
                      </a:pPr>
                      <a:r>
                        <a:rPr lang="en-US" sz="1200" dirty="0">
                          <a:solidFill>
                            <a:srgbClr val="26215C"/>
                          </a:solidFill>
                          <a:latin typeface="Arial" pitchFamily="34" charset="0"/>
                          <a:ea typeface="Arial" pitchFamily="34" charset="-122"/>
                          <a:cs typeface="Arial" pitchFamily="34" charset="-120"/>
                        </a:rPr>
                        <a:t>0.084</a:t>
                      </a:r>
                      <a:endParaRPr lang="en-US" sz="1200" dirty="0">
                        <a:latin typeface="Arial" charset="0"/>
                        <a:ea typeface="Arial" charset="0"/>
                        <a:cs typeface="Arial" charset="0"/>
                      </a:endParaRPr>
                    </a:p>
                  </a:txBody>
                  <a:tcPr marL="76200" marR="76200" marT="50800" marB="50800">
                    <a:lnL w="6350" cap="flat" cmpd="sng" algn="ctr">
                      <a:solidFill>
                        <a:srgbClr val="D0CEED"/>
                      </a:solidFill>
                      <a:prstDash val="solid"/>
                      <a:round/>
                      <a:headEnd type="none" w="med" len="med"/>
                      <a:tailEnd type="none" w="med" len="med"/>
                    </a:lnL>
                    <a:lnR w="6350" cap="flat" cmpd="sng" algn="ctr">
                      <a:solidFill>
                        <a:srgbClr val="D0CEED"/>
                      </a:solidFill>
                      <a:prstDash val="solid"/>
                      <a:round/>
                      <a:headEnd type="none" w="med" len="med"/>
                      <a:tailEnd type="none" w="med" len="med"/>
                    </a:lnR>
                    <a:lnT w="6350" cap="flat" cmpd="sng" algn="ctr">
                      <a:solidFill>
                        <a:srgbClr val="D0CEED"/>
                      </a:solidFill>
                      <a:prstDash val="solid"/>
                      <a:round/>
                      <a:headEnd type="none" w="med" len="med"/>
                      <a:tailEnd type="none" w="med" len="med"/>
                    </a:lnT>
                    <a:lnB w="6350" cap="flat" cmpd="sng" algn="ctr">
                      <a:solidFill>
                        <a:srgbClr val="D0CEED"/>
                      </a:solidFill>
                      <a:prstDash val="solid"/>
                      <a:round/>
                      <a:headEnd type="none" w="med" len="med"/>
                      <a:tailEnd type="none" w="med" len="med"/>
                    </a:lnB>
                    <a:solidFill>
                      <a:srgbClr val="E8E6FA"/>
                    </a:solidFill>
                  </a:tcPr>
                </a:tc>
              </a:tr>
              <a:tr h="251460">
                <a:tc>
                  <a:txBody>
                    <a:bodyPr/>
                    <a:lstStyle/>
                    <a:p>
                      <a:pPr algn="l" indent="0" marL="0">
                        <a:buNone/>
                      </a:pPr>
                      <a:r>
                        <a:rPr lang="en-US" sz="1200" dirty="0">
                          <a:solidFill>
                            <a:srgbClr val="26215C"/>
                          </a:solidFill>
                          <a:latin typeface="Arial" pitchFamily="34" charset="0"/>
                          <a:ea typeface="Arial" pitchFamily="34" charset="-122"/>
                          <a:cs typeface="Arial" pitchFamily="34" charset="-120"/>
                        </a:rPr>
                        <a:t>dev_Lounge — Oturma odası sapması</a:t>
                      </a:r>
                      <a:endParaRPr lang="en-US" sz="1200" dirty="0">
                        <a:latin typeface="Arial" charset="0"/>
                        <a:ea typeface="Arial" charset="0"/>
                        <a:cs typeface="Arial" charset="0"/>
                      </a:endParaRPr>
                    </a:p>
                  </a:txBody>
                  <a:tcPr marL="76200" marR="76200" marT="50800" marB="50800">
                    <a:lnL w="6350" cap="flat" cmpd="sng" algn="ctr">
                      <a:solidFill>
                        <a:srgbClr val="D0CEED"/>
                      </a:solidFill>
                      <a:prstDash val="solid"/>
                      <a:round/>
                      <a:headEnd type="none" w="med" len="med"/>
                      <a:tailEnd type="none" w="med" len="med"/>
                    </a:lnL>
                    <a:lnR w="6350" cap="flat" cmpd="sng" algn="ctr">
                      <a:solidFill>
                        <a:srgbClr val="D0CEED"/>
                      </a:solidFill>
                      <a:prstDash val="solid"/>
                      <a:round/>
                      <a:headEnd type="none" w="med" len="med"/>
                      <a:tailEnd type="none" w="med" len="med"/>
                    </a:lnR>
                    <a:lnT w="6350" cap="flat" cmpd="sng" algn="ctr">
                      <a:solidFill>
                        <a:srgbClr val="D0CEED"/>
                      </a:solidFill>
                      <a:prstDash val="solid"/>
                      <a:round/>
                      <a:headEnd type="none" w="med" len="med"/>
                      <a:tailEnd type="none" w="med" len="med"/>
                    </a:lnT>
                    <a:lnB w="6350" cap="flat" cmpd="sng" algn="ctr">
                      <a:solidFill>
                        <a:srgbClr val="D0CEE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6215C"/>
                          </a:solidFill>
                          <a:latin typeface="Arial" pitchFamily="34" charset="0"/>
                          <a:ea typeface="Arial" pitchFamily="34" charset="-122"/>
                          <a:cs typeface="Arial" pitchFamily="34" charset="-120"/>
                        </a:rPr>
                        <a:t>0.083</a:t>
                      </a:r>
                      <a:endParaRPr lang="en-US" sz="1200" dirty="0">
                        <a:latin typeface="Arial" charset="0"/>
                        <a:ea typeface="Arial" charset="0"/>
                        <a:cs typeface="Arial" charset="0"/>
                      </a:endParaRPr>
                    </a:p>
                  </a:txBody>
                  <a:tcPr marL="76200" marR="76200" marT="50800" marB="50800">
                    <a:lnL w="6350" cap="flat" cmpd="sng" algn="ctr">
                      <a:solidFill>
                        <a:srgbClr val="D0CEED"/>
                      </a:solidFill>
                      <a:prstDash val="solid"/>
                      <a:round/>
                      <a:headEnd type="none" w="med" len="med"/>
                      <a:tailEnd type="none" w="med" len="med"/>
                    </a:lnL>
                    <a:lnR w="6350" cap="flat" cmpd="sng" algn="ctr">
                      <a:solidFill>
                        <a:srgbClr val="D0CEED"/>
                      </a:solidFill>
                      <a:prstDash val="solid"/>
                      <a:round/>
                      <a:headEnd type="none" w="med" len="med"/>
                      <a:tailEnd type="none" w="med" len="med"/>
                    </a:lnR>
                    <a:lnT w="6350" cap="flat" cmpd="sng" algn="ctr">
                      <a:solidFill>
                        <a:srgbClr val="D0CEED"/>
                      </a:solidFill>
                      <a:prstDash val="solid"/>
                      <a:round/>
                      <a:headEnd type="none" w="med" len="med"/>
                      <a:tailEnd type="none" w="med" len="med"/>
                    </a:lnT>
                    <a:lnB w="6350" cap="flat" cmpd="sng" algn="ctr">
                      <a:solidFill>
                        <a:srgbClr val="D0CEED"/>
                      </a:solidFill>
                      <a:prstDash val="solid"/>
                      <a:round/>
                      <a:headEnd type="none" w="med" len="med"/>
                      <a:tailEnd type="none" w="med" len="med"/>
                    </a:lnB>
                    <a:solidFill>
                      <a:srgbClr val="FFFFFF"/>
                    </a:solidFill>
                  </a:tcPr>
                </a:tc>
              </a:tr>
            </a:tbl>
          </a:graphicData>
        </a:graphic>
      </p:graphicFrame>
      <p:sp>
        <p:nvSpPr>
          <p:cNvPr id="19" name="Text 16"/>
          <p:cNvSpPr/>
          <p:nvPr/>
        </p:nvSpPr>
        <p:spPr>
          <a:xfrm>
            <a:off x="5577840" y="3017520"/>
            <a:ext cx="3291840" cy="292608"/>
          </a:xfrm>
          <a:prstGeom prst="rect">
            <a:avLst/>
          </a:prstGeom>
          <a:noFill/>
          <a:ln/>
        </p:spPr>
        <p:txBody>
          <a:bodyPr wrap="square" lIns="0" tIns="0" rIns="0" bIns="0" rtlCol="0" anchor="ctr"/>
          <a:lstStyle/>
          <a:p>
            <a:pPr indent="0" marL="0">
              <a:buNone/>
            </a:pPr>
            <a:r>
              <a:rPr lang="en-US" sz="1400" b="1" dirty="0">
                <a:solidFill>
                  <a:srgbClr val="3C3489"/>
                </a:solidFill>
                <a:latin typeface="Arial" pitchFamily="34" charset="0"/>
                <a:ea typeface="Arial" pitchFamily="34" charset="-122"/>
                <a:cs typeface="Arial" pitchFamily="34" charset="-120"/>
              </a:rPr>
              <a:t>Tartışma</a:t>
            </a:r>
            <a:endParaRPr lang="en-US" sz="1400" dirty="0"/>
          </a:p>
        </p:txBody>
      </p:sp>
      <p:sp>
        <p:nvSpPr>
          <p:cNvPr id="20" name="Text 17"/>
          <p:cNvSpPr/>
          <p:nvPr/>
        </p:nvSpPr>
        <p:spPr>
          <a:xfrm>
            <a:off x="5577840" y="3337560"/>
            <a:ext cx="3291840" cy="1508760"/>
          </a:xfrm>
          <a:prstGeom prst="rect">
            <a:avLst/>
          </a:prstGeom>
          <a:noFill/>
          <a:ln/>
        </p:spPr>
        <p:txBody>
          <a:bodyPr wrap="square" lIns="0" tIns="0" rIns="0" bIns="0" rtlCol="0" anchor="t"/>
          <a:lstStyle/>
          <a:p>
            <a:pPr indent="0" marL="0">
              <a:spcAft>
                <a:spcPts val="400"/>
              </a:spcAft>
              <a:buNone/>
            </a:pPr>
            <a:r>
              <a:rPr lang="en-US" sz="1200" dirty="0">
                <a:solidFill>
                  <a:srgbClr val="26215C"/>
                </a:solidFill>
                <a:latin typeface="Arial" pitchFamily="34" charset="0"/>
                <a:ea typeface="Arial" pitchFamily="34" charset="-122"/>
                <a:cs typeface="Arial" pitchFamily="34" charset="-120"/>
              </a:rPr>
              <a:t>Tüm top-5 öznitelik dev_ önekli — hasta bazlı normalizasyonun katkısını doğruluyor.
</a:t>
            </a:r>
            <a:pPr indent="0" marL="0">
              <a:spcAft>
                <a:spcPts val="400"/>
              </a:spcAft>
              <a:buNone/>
            </a:pPr>
            <a:r>
              <a:rPr lang="en-US" sz="1200" dirty="0">
                <a:solidFill>
                  <a:srgbClr val="26215C"/>
                </a:solidFill>
                <a:latin typeface="Arial" pitchFamily="34" charset="0"/>
                <a:ea typeface="Arial" pitchFamily="34" charset="-122"/>
                <a:cs typeface="Arial" pitchFamily="34" charset="-120"/>
              </a:rPr>
              <a:t>%11 precision bilinçli bir tasarım kararı: kaçırılan ajitasyon, yanlış alarmdan daha maliyetlidir.
</a:t>
            </a:r>
            <a:pPr indent="0" marL="0">
              <a:spcAft>
                <a:spcPts val="400"/>
              </a:spcAft>
              <a:buNone/>
            </a:pPr>
            <a:r>
              <a:rPr lang="en-US" sz="1200" dirty="0">
                <a:solidFill>
                  <a:srgbClr val="26215C"/>
                </a:solidFill>
                <a:latin typeface="Arial" pitchFamily="34" charset="0"/>
                <a:ea typeface="Arial" pitchFamily="34" charset="-122"/>
                <a:cs typeface="Arial" pitchFamily="34" charset="-120"/>
              </a:rPr>
              <a:t>LOPO ile ölçülen 0.655 AUC, şişirilmemiş gerçekçi bir performans göstergesidir.</a:t>
            </a:r>
            <a:endParaRPr lang="en-US" sz="1200" dirty="0"/>
          </a:p>
        </p:txBody>
      </p:sp>
      <p:sp>
        <p:nvSpPr>
          <p:cNvPr id="21" name="Text 18"/>
          <p:cNvSpPr/>
          <p:nvPr/>
        </p:nvSpPr>
        <p:spPr>
          <a:xfrm>
            <a:off x="274320" y="4892040"/>
            <a:ext cx="4572000" cy="228600"/>
          </a:xfrm>
          <a:prstGeom prst="rect">
            <a:avLst/>
          </a:prstGeom>
          <a:noFill/>
          <a:ln/>
        </p:spPr>
        <p:txBody>
          <a:bodyPr wrap="square" lIns="0" tIns="0" rIns="0" bIns="0" rtlCol="0" anchor="ctr"/>
          <a:lstStyle/>
          <a:p>
            <a:pPr indent="0" marL="0">
              <a:buNone/>
            </a:pPr>
            <a:r>
              <a:rPr lang="en-US" sz="1100" dirty="0">
                <a:solidFill>
                  <a:srgbClr val="534AB7"/>
                </a:solidFill>
                <a:latin typeface="Arial" pitchFamily="34" charset="0"/>
                <a:ea typeface="Arial" pitchFamily="34" charset="-122"/>
                <a:cs typeface="Arial" pitchFamily="34" charset="-120"/>
              </a:rPr>
              <a:t>YZM310 Bitirme Projesi — Samsun Üniversitesi</a:t>
            </a:r>
            <a:endParaRPr lang="en-US" sz="1100" dirty="0"/>
          </a:p>
        </p:txBody>
      </p:sp>
      <p:sp>
        <p:nvSpPr>
          <p:cNvPr id="22" name="Text 19"/>
          <p:cNvSpPr/>
          <p:nvPr/>
        </p:nvSpPr>
        <p:spPr>
          <a:xfrm>
            <a:off x="4572000" y="4892040"/>
            <a:ext cx="4297680" cy="228600"/>
          </a:xfrm>
          <a:prstGeom prst="rect">
            <a:avLst/>
          </a:prstGeom>
          <a:noFill/>
          <a:ln/>
        </p:spPr>
        <p:txBody>
          <a:bodyPr wrap="square" lIns="0" tIns="0" rIns="0" bIns="0" rtlCol="0" anchor="ctr"/>
          <a:lstStyle/>
          <a:p>
            <a:pPr algn="r" indent="0" marL="0">
              <a:buNone/>
            </a:pPr>
            <a:r>
              <a:rPr lang="en-US" sz="1100" dirty="0">
                <a:solidFill>
                  <a:srgbClr val="534AB7"/>
                </a:solidFill>
                <a:latin typeface="Arial" pitchFamily="34" charset="0"/>
                <a:ea typeface="Arial" pitchFamily="34" charset="-122"/>
                <a:cs typeface="Arial" pitchFamily="34" charset="-120"/>
              </a:rPr>
              <a:t>2025/2026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C3489"/>
        </a:solidFill>
      </p:bgPr>
    </p:bg>
    <p:spTree>
      <p:nvGrpSpPr>
        <p:cNvPr id="1" name=""/>
        <p:cNvGrpSpPr/>
        <p:nvPr/>
      </p:nvGrpSpPr>
      <p:grpSpPr>
        <a:xfrm>
          <a:off x="0" y="0"/>
          <a:ext cx="0" cy="0"/>
          <a:chOff x="0" y="0"/>
          <a:chExt cx="0" cy="0"/>
        </a:xfrm>
      </p:grpSpPr>
      <p:sp>
        <p:nvSpPr>
          <p:cNvPr id="2" name="Text 0"/>
          <p:cNvSpPr/>
          <p:nvPr/>
        </p:nvSpPr>
        <p:spPr>
          <a:xfrm>
            <a:off x="365760" y="274320"/>
            <a:ext cx="8412480" cy="64008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Sonuç ve Öneriler</a:t>
            </a:r>
            <a:endParaRPr lang="en-US" sz="4000" dirty="0"/>
          </a:p>
        </p:txBody>
      </p:sp>
      <p:sp>
        <p:nvSpPr>
          <p:cNvPr id="3" name="Text 1"/>
          <p:cNvSpPr/>
          <p:nvPr/>
        </p:nvSpPr>
        <p:spPr>
          <a:xfrm>
            <a:off x="365760" y="1097280"/>
            <a:ext cx="4114800" cy="365760"/>
          </a:xfrm>
          <a:prstGeom prst="rect">
            <a:avLst/>
          </a:prstGeom>
          <a:noFill/>
          <a:ln/>
        </p:spPr>
        <p:txBody>
          <a:bodyPr wrap="square" lIns="0" tIns="0" rIns="0" bIns="0" rtlCol="0" anchor="ctr"/>
          <a:lstStyle/>
          <a:p>
            <a:pPr indent="0" marL="0">
              <a:buNone/>
            </a:pPr>
            <a:r>
              <a:rPr lang="en-US" sz="2000" b="1" dirty="0">
                <a:solidFill>
                  <a:srgbClr val="CECBF6"/>
                </a:solidFill>
                <a:latin typeface="Arial" pitchFamily="34" charset="0"/>
                <a:ea typeface="Arial" pitchFamily="34" charset="-122"/>
                <a:cs typeface="Arial" pitchFamily="34" charset="-120"/>
              </a:rPr>
              <a:t>Sonuçlar</a:t>
            </a:r>
            <a:endParaRPr lang="en-US" sz="2000" dirty="0"/>
          </a:p>
        </p:txBody>
      </p:sp>
      <p:sp>
        <p:nvSpPr>
          <p:cNvPr id="4" name="Shape 2"/>
          <p:cNvSpPr/>
          <p:nvPr/>
        </p:nvSpPr>
        <p:spPr>
          <a:xfrm>
            <a:off x="365760" y="1572768"/>
            <a:ext cx="256032" cy="256032"/>
          </a:xfrm>
          <a:prstGeom prst="oval">
            <a:avLst/>
          </a:prstGeom>
          <a:solidFill>
            <a:srgbClr val="7F77DD"/>
          </a:solidFill>
          <a:ln w="12700">
            <a:solidFill>
              <a:srgbClr val="7F77DD"/>
            </a:solidFill>
            <a:prstDash val="solid"/>
          </a:ln>
        </p:spPr>
      </p:sp>
      <p:sp>
        <p:nvSpPr>
          <p:cNvPr id="5" name="Text 3"/>
          <p:cNvSpPr/>
          <p:nvPr/>
        </p:nvSpPr>
        <p:spPr>
          <a:xfrm>
            <a:off x="713232" y="1536192"/>
            <a:ext cx="3566160" cy="5943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Günlük ev sensörü verisi ajitasyon riskini tespit etmek için yeterli sinyal taşımaktadır — %79 recall ile kriter karşılandı.</a:t>
            </a:r>
            <a:endParaRPr lang="en-US" sz="1200" dirty="0"/>
          </a:p>
        </p:txBody>
      </p:sp>
      <p:sp>
        <p:nvSpPr>
          <p:cNvPr id="6" name="Shape 4"/>
          <p:cNvSpPr/>
          <p:nvPr/>
        </p:nvSpPr>
        <p:spPr>
          <a:xfrm>
            <a:off x="365760" y="2286000"/>
            <a:ext cx="256032" cy="256032"/>
          </a:xfrm>
          <a:prstGeom prst="oval">
            <a:avLst/>
          </a:prstGeom>
          <a:solidFill>
            <a:srgbClr val="7F77DD"/>
          </a:solidFill>
          <a:ln w="12700">
            <a:solidFill>
              <a:srgbClr val="7F77DD"/>
            </a:solidFill>
            <a:prstDash val="solid"/>
          </a:ln>
        </p:spPr>
      </p:sp>
      <p:sp>
        <p:nvSpPr>
          <p:cNvPr id="7" name="Text 5"/>
          <p:cNvSpPr/>
          <p:nvPr/>
        </p:nvSpPr>
        <p:spPr>
          <a:xfrm>
            <a:off x="713232" y="2249424"/>
            <a:ext cx="3566160" cy="5943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Z-skor sapma öznitelikleri, hasta bazlı normalizasyonun modelin genelleşme kapasitesine katkısını doğruladı.</a:t>
            </a:r>
            <a:endParaRPr lang="en-US" sz="1200" dirty="0"/>
          </a:p>
        </p:txBody>
      </p:sp>
      <p:sp>
        <p:nvSpPr>
          <p:cNvPr id="8" name="Shape 6"/>
          <p:cNvSpPr/>
          <p:nvPr/>
        </p:nvSpPr>
        <p:spPr>
          <a:xfrm>
            <a:off x="365760" y="2999232"/>
            <a:ext cx="256032" cy="256032"/>
          </a:xfrm>
          <a:prstGeom prst="oval">
            <a:avLst/>
          </a:prstGeom>
          <a:solidFill>
            <a:srgbClr val="7F77DD"/>
          </a:solidFill>
          <a:ln w="12700">
            <a:solidFill>
              <a:srgbClr val="7F77DD"/>
            </a:solidFill>
            <a:prstDash val="solid"/>
          </a:ln>
        </p:spPr>
      </p:sp>
      <p:sp>
        <p:nvSpPr>
          <p:cNvPr id="9" name="Text 7"/>
          <p:cNvSpPr/>
          <p:nvPr/>
        </p:nvSpPr>
        <p:spPr>
          <a:xfrm>
            <a:off x="713232" y="2962656"/>
            <a:ext cx="3566160" cy="5943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LOPO çapraz doğrulaması, rastgele bölme yöntemine kıyasla daha gerçekçi klinik performans ölçümü sağladı.</a:t>
            </a:r>
            <a:endParaRPr lang="en-US" sz="1200" dirty="0"/>
          </a:p>
        </p:txBody>
      </p:sp>
      <p:sp>
        <p:nvSpPr>
          <p:cNvPr id="10" name="Shape 8"/>
          <p:cNvSpPr/>
          <p:nvPr/>
        </p:nvSpPr>
        <p:spPr>
          <a:xfrm>
            <a:off x="365760" y="3712464"/>
            <a:ext cx="256032" cy="256032"/>
          </a:xfrm>
          <a:prstGeom prst="oval">
            <a:avLst/>
          </a:prstGeom>
          <a:solidFill>
            <a:srgbClr val="7F77DD"/>
          </a:solidFill>
          <a:ln w="12700">
            <a:solidFill>
              <a:srgbClr val="7F77DD"/>
            </a:solidFill>
            <a:prstDash val="solid"/>
          </a:ln>
        </p:spPr>
      </p:sp>
      <p:sp>
        <p:nvSpPr>
          <p:cNvPr id="11" name="Text 9"/>
          <p:cNvSpPr/>
          <p:nvPr/>
        </p:nvSpPr>
        <p:spPr>
          <a:xfrm>
            <a:off x="713232" y="3675888"/>
            <a:ext cx="3566160" cy="5943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Sistem uçtan uca tamamlandı: ML pipeline → API → web panosu → mobil uygulama.</a:t>
            </a:r>
            <a:endParaRPr lang="en-US" sz="1200" dirty="0"/>
          </a:p>
        </p:txBody>
      </p:sp>
      <p:sp>
        <p:nvSpPr>
          <p:cNvPr id="12" name="Text 10"/>
          <p:cNvSpPr/>
          <p:nvPr/>
        </p:nvSpPr>
        <p:spPr>
          <a:xfrm>
            <a:off x="4754880" y="1097280"/>
            <a:ext cx="4114800" cy="365760"/>
          </a:xfrm>
          <a:prstGeom prst="rect">
            <a:avLst/>
          </a:prstGeom>
          <a:noFill/>
          <a:ln/>
        </p:spPr>
        <p:txBody>
          <a:bodyPr wrap="square" lIns="0" tIns="0" rIns="0" bIns="0" rtlCol="0" anchor="ctr"/>
          <a:lstStyle/>
          <a:p>
            <a:pPr indent="0" marL="0">
              <a:buNone/>
            </a:pPr>
            <a:r>
              <a:rPr lang="en-US" sz="2000" b="1" dirty="0">
                <a:solidFill>
                  <a:srgbClr val="CECBF6"/>
                </a:solidFill>
                <a:latin typeface="Arial" pitchFamily="34" charset="0"/>
                <a:ea typeface="Arial" pitchFamily="34" charset="-122"/>
                <a:cs typeface="Arial" pitchFamily="34" charset="-120"/>
              </a:rPr>
              <a:t>Öneriler ve Gelecek Çalışmalar</a:t>
            </a:r>
            <a:endParaRPr lang="en-US" sz="2000" dirty="0"/>
          </a:p>
        </p:txBody>
      </p:sp>
      <p:sp>
        <p:nvSpPr>
          <p:cNvPr id="13" name="Shape 11"/>
          <p:cNvSpPr/>
          <p:nvPr/>
        </p:nvSpPr>
        <p:spPr>
          <a:xfrm>
            <a:off x="4754880" y="1572768"/>
            <a:ext cx="256032" cy="256032"/>
          </a:xfrm>
          <a:prstGeom prst="oval">
            <a:avLst/>
          </a:prstGeom>
          <a:solidFill>
            <a:srgbClr val="534AB7"/>
          </a:solidFill>
          <a:ln w="12700">
            <a:solidFill>
              <a:srgbClr val="534AB7"/>
            </a:solidFill>
            <a:prstDash val="solid"/>
          </a:ln>
        </p:spPr>
      </p:sp>
      <p:sp>
        <p:nvSpPr>
          <p:cNvPr id="14" name="Text 12"/>
          <p:cNvSpPr/>
          <p:nvPr/>
        </p:nvSpPr>
        <p:spPr>
          <a:xfrm>
            <a:off x="5102352" y="1536192"/>
            <a:ext cx="3566160" cy="5943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Klinik ML çalışmalarında eşik optimizasyonu zorunlu — varsayılan 0.50 kullanılmamalı.</a:t>
            </a:r>
            <a:endParaRPr lang="en-US" sz="1200" dirty="0"/>
          </a:p>
        </p:txBody>
      </p:sp>
      <p:sp>
        <p:nvSpPr>
          <p:cNvPr id="15" name="Shape 13"/>
          <p:cNvSpPr/>
          <p:nvPr/>
        </p:nvSpPr>
        <p:spPr>
          <a:xfrm>
            <a:off x="4754880" y="2286000"/>
            <a:ext cx="256032" cy="256032"/>
          </a:xfrm>
          <a:prstGeom prst="oval">
            <a:avLst/>
          </a:prstGeom>
          <a:solidFill>
            <a:srgbClr val="534AB7"/>
          </a:solidFill>
          <a:ln w="12700">
            <a:solidFill>
              <a:srgbClr val="534AB7"/>
            </a:solidFill>
            <a:prstDash val="solid"/>
          </a:ln>
        </p:spPr>
      </p:sp>
      <p:sp>
        <p:nvSpPr>
          <p:cNvPr id="16" name="Text 14"/>
          <p:cNvSpPr/>
          <p:nvPr/>
        </p:nvSpPr>
        <p:spPr>
          <a:xfrm>
            <a:off x="5102352" y="2249424"/>
            <a:ext cx="3566160" cy="5943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Hasta bazlı bölme (LOPO) veri sızıntısını önler; her klinik çalışmada standart olmalı.</a:t>
            </a:r>
            <a:endParaRPr lang="en-US" sz="1200" dirty="0"/>
          </a:p>
        </p:txBody>
      </p:sp>
      <p:sp>
        <p:nvSpPr>
          <p:cNvPr id="17" name="Shape 15"/>
          <p:cNvSpPr/>
          <p:nvPr/>
        </p:nvSpPr>
        <p:spPr>
          <a:xfrm>
            <a:off x="4754880" y="2999232"/>
            <a:ext cx="256032" cy="256032"/>
          </a:xfrm>
          <a:prstGeom prst="oval">
            <a:avLst/>
          </a:prstGeom>
          <a:solidFill>
            <a:srgbClr val="534AB7"/>
          </a:solidFill>
          <a:ln w="12700">
            <a:solidFill>
              <a:srgbClr val="534AB7"/>
            </a:solidFill>
            <a:prstDash val="solid"/>
          </a:ln>
        </p:spPr>
      </p:sp>
      <p:sp>
        <p:nvSpPr>
          <p:cNvPr id="18" name="Text 16"/>
          <p:cNvSpPr/>
          <p:nvPr/>
        </p:nvSpPr>
        <p:spPr>
          <a:xfrm>
            <a:off x="5102352" y="2962656"/>
            <a:ext cx="3566160" cy="5943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Human-in-the-Loop katmanı: bakıcının uyarıyı onaylaması / gerekçeyle ertelemesi (YZM401 hedefi).</a:t>
            </a:r>
            <a:endParaRPr lang="en-US" sz="1200" dirty="0"/>
          </a:p>
        </p:txBody>
      </p:sp>
      <p:sp>
        <p:nvSpPr>
          <p:cNvPr id="19" name="Shape 17"/>
          <p:cNvSpPr/>
          <p:nvPr/>
        </p:nvSpPr>
        <p:spPr>
          <a:xfrm>
            <a:off x="4754880" y="3712464"/>
            <a:ext cx="256032" cy="256032"/>
          </a:xfrm>
          <a:prstGeom prst="oval">
            <a:avLst/>
          </a:prstGeom>
          <a:solidFill>
            <a:srgbClr val="534AB7"/>
          </a:solidFill>
          <a:ln w="12700">
            <a:solidFill>
              <a:srgbClr val="534AB7"/>
            </a:solidFill>
            <a:prstDash val="solid"/>
          </a:ln>
        </p:spPr>
      </p:sp>
      <p:sp>
        <p:nvSpPr>
          <p:cNvPr id="20" name="Text 18"/>
          <p:cNvSpPr/>
          <p:nvPr/>
        </p:nvSpPr>
        <p:spPr>
          <a:xfrm>
            <a:off x="5102352" y="3675888"/>
            <a:ext cx="3566160" cy="59436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Harici validasyon — TIHM dışında ikinci veri setiyle doğrulama öncelikli hedef.</a:t>
            </a:r>
            <a:endParaRPr lang="en-US" sz="1200" dirty="0"/>
          </a:p>
        </p:txBody>
      </p:sp>
      <p:sp>
        <p:nvSpPr>
          <p:cNvPr id="21" name="Text 19"/>
          <p:cNvSpPr/>
          <p:nvPr/>
        </p:nvSpPr>
        <p:spPr>
          <a:xfrm>
            <a:off x="274320" y="4892040"/>
            <a:ext cx="4572000" cy="228600"/>
          </a:xfrm>
          <a:prstGeom prst="rect">
            <a:avLst/>
          </a:prstGeom>
          <a:noFill/>
          <a:ln/>
        </p:spPr>
        <p:txBody>
          <a:bodyPr wrap="square" lIns="0" tIns="0" rIns="0" bIns="0" rtlCol="0" anchor="ctr"/>
          <a:lstStyle/>
          <a:p>
            <a:pPr indent="0" marL="0">
              <a:buNone/>
            </a:pPr>
            <a:r>
              <a:rPr lang="en-US" sz="1100" dirty="0">
                <a:solidFill>
                  <a:srgbClr val="534AB7"/>
                </a:solidFill>
                <a:latin typeface="Arial" pitchFamily="34" charset="0"/>
                <a:ea typeface="Arial" pitchFamily="34" charset="-122"/>
                <a:cs typeface="Arial" pitchFamily="34" charset="-120"/>
              </a:rPr>
              <a:t>YZM310 Bitirme Projesi — Samsun Üniversitesi</a:t>
            </a:r>
            <a:endParaRPr lang="en-US" sz="1100" dirty="0"/>
          </a:p>
        </p:txBody>
      </p:sp>
      <p:sp>
        <p:nvSpPr>
          <p:cNvPr id="22" name="Text 20"/>
          <p:cNvSpPr/>
          <p:nvPr/>
        </p:nvSpPr>
        <p:spPr>
          <a:xfrm>
            <a:off x="4572000" y="4892040"/>
            <a:ext cx="4297680" cy="228600"/>
          </a:xfrm>
          <a:prstGeom prst="rect">
            <a:avLst/>
          </a:prstGeom>
          <a:noFill/>
          <a:ln/>
        </p:spPr>
        <p:txBody>
          <a:bodyPr wrap="square" lIns="0" tIns="0" rIns="0" bIns="0" rtlCol="0" anchor="ctr"/>
          <a:lstStyle/>
          <a:p>
            <a:pPr algn="r" indent="0" marL="0">
              <a:buNone/>
            </a:pPr>
            <a:r>
              <a:rPr lang="en-US" sz="1100" dirty="0">
                <a:solidFill>
                  <a:srgbClr val="534AB7"/>
                </a:solidFill>
                <a:latin typeface="Arial" pitchFamily="34" charset="0"/>
                <a:ea typeface="Arial" pitchFamily="34" charset="-122"/>
                <a:cs typeface="Arial" pitchFamily="34" charset="-120"/>
              </a:rPr>
              <a:t>2025/2026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DFE"/>
        </a:solidFill>
      </p:bgPr>
    </p:bg>
    <p:spTree>
      <p:nvGrpSpPr>
        <p:cNvPr id="1" name=""/>
        <p:cNvGrpSpPr/>
        <p:nvPr/>
      </p:nvGrpSpPr>
      <p:grpSpPr>
        <a:xfrm>
          <a:off x="0" y="0"/>
          <a:ext cx="0" cy="0"/>
          <a:chOff x="0" y="0"/>
          <a:chExt cx="0" cy="0"/>
        </a:xfrm>
      </p:grpSpPr>
      <p:sp>
        <p:nvSpPr>
          <p:cNvPr id="2" name="Shape 0"/>
          <p:cNvSpPr/>
          <p:nvPr/>
        </p:nvSpPr>
        <p:spPr>
          <a:xfrm>
            <a:off x="0" y="0"/>
            <a:ext cx="9144000" cy="1417320"/>
          </a:xfrm>
          <a:prstGeom prst="rect">
            <a:avLst/>
          </a:prstGeom>
          <a:solidFill>
            <a:srgbClr val="3C3489"/>
          </a:solidFill>
          <a:ln w="12700">
            <a:solidFill>
              <a:srgbClr val="3C3489"/>
            </a:solidFill>
            <a:prstDash val="solid"/>
          </a:ln>
        </p:spPr>
      </p:sp>
      <p:sp>
        <p:nvSpPr>
          <p:cNvPr id="3" name="Text 1"/>
          <p:cNvSpPr/>
          <p:nvPr/>
        </p:nvSpPr>
        <p:spPr>
          <a:xfrm>
            <a:off x="365760" y="109728"/>
            <a:ext cx="8412480" cy="68580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Kaynakça</a:t>
            </a:r>
            <a:endParaRPr lang="en-US" sz="3600" dirty="0"/>
          </a:p>
        </p:txBody>
      </p:sp>
      <p:sp>
        <p:nvSpPr>
          <p:cNvPr id="4" name="Text 2"/>
          <p:cNvSpPr/>
          <p:nvPr/>
        </p:nvSpPr>
        <p:spPr>
          <a:xfrm>
            <a:off x="365760" y="822960"/>
            <a:ext cx="8412480" cy="457200"/>
          </a:xfrm>
          <a:prstGeom prst="rect">
            <a:avLst/>
          </a:prstGeom>
          <a:noFill/>
          <a:ln/>
        </p:spPr>
        <p:txBody>
          <a:bodyPr wrap="square" lIns="0" tIns="0" rIns="0" bIns="0" rtlCol="0" anchor="ctr"/>
          <a:lstStyle/>
          <a:p>
            <a:pPr indent="0" marL="0">
              <a:buNone/>
            </a:pPr>
            <a:r>
              <a:rPr lang="en-US" sz="1600" dirty="0">
                <a:solidFill>
                  <a:srgbClr val="CECBF6"/>
                </a:solidFill>
                <a:latin typeface="Arial" pitchFamily="34" charset="0"/>
                <a:ea typeface="Arial" pitchFamily="34" charset="-122"/>
                <a:cs typeface="Arial" pitchFamily="34" charset="-120"/>
              </a:rPr>
              <a:t>Temel referanslar</a:t>
            </a:r>
            <a:endParaRPr lang="en-US" sz="1600" dirty="0"/>
          </a:p>
        </p:txBody>
      </p:sp>
      <p:sp>
        <p:nvSpPr>
          <p:cNvPr id="5" name="Text 3"/>
          <p:cNvSpPr/>
          <p:nvPr/>
        </p:nvSpPr>
        <p:spPr>
          <a:xfrm>
            <a:off x="365760" y="1536192"/>
            <a:ext cx="8412480" cy="310896"/>
          </a:xfrm>
          <a:prstGeom prst="rect">
            <a:avLst/>
          </a:prstGeom>
          <a:noFill/>
          <a:ln/>
        </p:spPr>
        <p:txBody>
          <a:bodyPr wrap="square" lIns="0" tIns="0" rIns="0" bIns="0" rtlCol="0" anchor="ctr"/>
          <a:lstStyle/>
          <a:p>
            <a:pPr indent="0" marL="0">
              <a:buNone/>
            </a:pPr>
            <a:r>
              <a:rPr lang="en-US" sz="1100" dirty="0">
                <a:solidFill>
                  <a:srgbClr val="26215C"/>
                </a:solidFill>
                <a:latin typeface="Arial" pitchFamily="34" charset="0"/>
                <a:ea typeface="Arial" pitchFamily="34" charset="-122"/>
                <a:cs typeface="Arial" pitchFamily="34" charset="-120"/>
              </a:rPr>
              <a:t>[1] Palermo, F. vd. (2023). TIHM: An open dataset for remote healthcare monitoring in dementia. Scientific Data, 10, 606.</a:t>
            </a:r>
            <a:endParaRPr lang="en-US" sz="1100" dirty="0"/>
          </a:p>
        </p:txBody>
      </p:sp>
      <p:sp>
        <p:nvSpPr>
          <p:cNvPr id="6" name="Text 4"/>
          <p:cNvSpPr/>
          <p:nvPr/>
        </p:nvSpPr>
        <p:spPr>
          <a:xfrm>
            <a:off x="365760" y="1883664"/>
            <a:ext cx="8412480" cy="310896"/>
          </a:xfrm>
          <a:prstGeom prst="rect">
            <a:avLst/>
          </a:prstGeom>
          <a:noFill/>
          <a:ln/>
        </p:spPr>
        <p:txBody>
          <a:bodyPr wrap="square" lIns="0" tIns="0" rIns="0" bIns="0" rtlCol="0" anchor="ctr"/>
          <a:lstStyle/>
          <a:p>
            <a:pPr indent="0" marL="0">
              <a:buNone/>
            </a:pPr>
            <a:r>
              <a:rPr lang="en-US" sz="1100" dirty="0">
                <a:solidFill>
                  <a:srgbClr val="26215C"/>
                </a:solidFill>
                <a:latin typeface="Arial" pitchFamily="34" charset="0"/>
                <a:ea typeface="Arial" pitchFamily="34" charset="-122"/>
                <a:cs typeface="Arial" pitchFamily="34" charset="-120"/>
              </a:rPr>
              <a:t>[2] Enshaeifar, S. vd. (2018). Health management and pattern analysis of daily living activities of people with dementia. PLOS ONE, 13(5), e0195605.</a:t>
            </a:r>
            <a:endParaRPr lang="en-US" sz="1100" dirty="0"/>
          </a:p>
        </p:txBody>
      </p:sp>
      <p:sp>
        <p:nvSpPr>
          <p:cNvPr id="7" name="Text 5"/>
          <p:cNvSpPr/>
          <p:nvPr/>
        </p:nvSpPr>
        <p:spPr>
          <a:xfrm>
            <a:off x="365760" y="2231136"/>
            <a:ext cx="8412480" cy="310896"/>
          </a:xfrm>
          <a:prstGeom prst="rect">
            <a:avLst/>
          </a:prstGeom>
          <a:noFill/>
          <a:ln/>
        </p:spPr>
        <p:txBody>
          <a:bodyPr wrap="square" lIns="0" tIns="0" rIns="0" bIns="0" rtlCol="0" anchor="ctr"/>
          <a:lstStyle/>
          <a:p>
            <a:pPr indent="0" marL="0">
              <a:buNone/>
            </a:pPr>
            <a:r>
              <a:rPr lang="en-US" sz="1100" dirty="0">
                <a:solidFill>
                  <a:srgbClr val="26215C"/>
                </a:solidFill>
                <a:latin typeface="Arial" pitchFamily="34" charset="0"/>
                <a:ea typeface="Arial" pitchFamily="34" charset="-122"/>
                <a:cs typeface="Arial" pitchFamily="34" charset="-120"/>
              </a:rPr>
              <a:t>[3] Breiman, L. (2001). Random forests. Machine Learning, 45(1), 5–32.</a:t>
            </a:r>
            <a:endParaRPr lang="en-US" sz="1100" dirty="0"/>
          </a:p>
        </p:txBody>
      </p:sp>
      <p:sp>
        <p:nvSpPr>
          <p:cNvPr id="8" name="Text 6"/>
          <p:cNvSpPr/>
          <p:nvPr/>
        </p:nvSpPr>
        <p:spPr>
          <a:xfrm>
            <a:off x="365760" y="2578608"/>
            <a:ext cx="8412480" cy="310896"/>
          </a:xfrm>
          <a:prstGeom prst="rect">
            <a:avLst/>
          </a:prstGeom>
          <a:noFill/>
          <a:ln/>
        </p:spPr>
        <p:txBody>
          <a:bodyPr wrap="square" lIns="0" tIns="0" rIns="0" bIns="0" rtlCol="0" anchor="ctr"/>
          <a:lstStyle/>
          <a:p>
            <a:pPr indent="0" marL="0">
              <a:buNone/>
            </a:pPr>
            <a:r>
              <a:rPr lang="en-US" sz="1100" dirty="0">
                <a:solidFill>
                  <a:srgbClr val="26215C"/>
                </a:solidFill>
                <a:latin typeface="Arial" pitchFamily="34" charset="0"/>
                <a:ea typeface="Arial" pitchFamily="34" charset="-122"/>
                <a:cs typeface="Arial" pitchFamily="34" charset="-120"/>
              </a:rPr>
              <a:t>[4] Chawla, N.V. vd. (2002). SMOTE: Synthetic minority over-sampling technique. JAIR, 16, 321–357.</a:t>
            </a:r>
            <a:endParaRPr lang="en-US" sz="1100" dirty="0"/>
          </a:p>
        </p:txBody>
      </p:sp>
      <p:sp>
        <p:nvSpPr>
          <p:cNvPr id="9" name="Text 7"/>
          <p:cNvSpPr/>
          <p:nvPr/>
        </p:nvSpPr>
        <p:spPr>
          <a:xfrm>
            <a:off x="365760" y="2926080"/>
            <a:ext cx="8412480" cy="310896"/>
          </a:xfrm>
          <a:prstGeom prst="rect">
            <a:avLst/>
          </a:prstGeom>
          <a:noFill/>
          <a:ln/>
        </p:spPr>
        <p:txBody>
          <a:bodyPr wrap="square" lIns="0" tIns="0" rIns="0" bIns="0" rtlCol="0" anchor="ctr"/>
          <a:lstStyle/>
          <a:p>
            <a:pPr indent="0" marL="0">
              <a:buNone/>
            </a:pPr>
            <a:r>
              <a:rPr lang="en-US" sz="1100" dirty="0">
                <a:solidFill>
                  <a:srgbClr val="26215C"/>
                </a:solidFill>
                <a:latin typeface="Arial" pitchFamily="34" charset="0"/>
                <a:ea typeface="Arial" pitchFamily="34" charset="-122"/>
                <a:cs typeface="Arial" pitchFamily="34" charset="-120"/>
              </a:rPr>
              <a:t>[5] WHO. (2023). Dementia. https://www.who.int/news-room/fact-sheets/detail/dementia</a:t>
            </a:r>
            <a:endParaRPr lang="en-US" sz="1100" dirty="0"/>
          </a:p>
        </p:txBody>
      </p:sp>
      <p:sp>
        <p:nvSpPr>
          <p:cNvPr id="10" name="Text 8"/>
          <p:cNvSpPr/>
          <p:nvPr/>
        </p:nvSpPr>
        <p:spPr>
          <a:xfrm>
            <a:off x="365760" y="3273552"/>
            <a:ext cx="8412480" cy="310896"/>
          </a:xfrm>
          <a:prstGeom prst="rect">
            <a:avLst/>
          </a:prstGeom>
          <a:noFill/>
          <a:ln/>
        </p:spPr>
        <p:txBody>
          <a:bodyPr wrap="square" lIns="0" tIns="0" rIns="0" bIns="0" rtlCol="0" anchor="ctr"/>
          <a:lstStyle/>
          <a:p>
            <a:pPr indent="0" marL="0">
              <a:buNone/>
            </a:pPr>
            <a:r>
              <a:rPr lang="en-US" sz="1100" dirty="0">
                <a:solidFill>
                  <a:srgbClr val="26215C"/>
                </a:solidFill>
                <a:latin typeface="Arial" pitchFamily="34" charset="0"/>
                <a:ea typeface="Arial" pitchFamily="34" charset="-122"/>
                <a:cs typeface="Arial" pitchFamily="34" charset="-120"/>
              </a:rPr>
              <a:t>[6] Alzheimer's Association. (2023). 2023 Alzheimer's disease facts and figures. Alzheimer's &amp; Dementia, 19(4).</a:t>
            </a:r>
            <a:endParaRPr lang="en-US" sz="1100" dirty="0"/>
          </a:p>
        </p:txBody>
      </p:sp>
      <p:sp>
        <p:nvSpPr>
          <p:cNvPr id="11" name="Text 9"/>
          <p:cNvSpPr/>
          <p:nvPr/>
        </p:nvSpPr>
        <p:spPr>
          <a:xfrm>
            <a:off x="365760" y="3621024"/>
            <a:ext cx="8412480" cy="310896"/>
          </a:xfrm>
          <a:prstGeom prst="rect">
            <a:avLst/>
          </a:prstGeom>
          <a:noFill/>
          <a:ln/>
        </p:spPr>
        <p:txBody>
          <a:bodyPr wrap="square" lIns="0" tIns="0" rIns="0" bIns="0" rtlCol="0" anchor="ctr"/>
          <a:lstStyle/>
          <a:p>
            <a:pPr indent="0" marL="0">
              <a:buNone/>
            </a:pPr>
            <a:r>
              <a:rPr lang="en-US" sz="1100" dirty="0">
                <a:solidFill>
                  <a:srgbClr val="26215C"/>
                </a:solidFill>
                <a:latin typeface="Arial" pitchFamily="34" charset="0"/>
                <a:ea typeface="Arial" pitchFamily="34" charset="-122"/>
                <a:cs typeface="Arial" pitchFamily="34" charset="-120"/>
              </a:rPr>
              <a:t>[7] Evlice, A. (2022). Türkiye'de demans hastası sayısının 2030'da 1,5 milyon olması bekleniyor. Cumhuriyet.</a:t>
            </a:r>
            <a:endParaRPr lang="en-US" sz="1100" dirty="0"/>
          </a:p>
        </p:txBody>
      </p:sp>
      <p:sp>
        <p:nvSpPr>
          <p:cNvPr id="12" name="Shape 10"/>
          <p:cNvSpPr/>
          <p:nvPr/>
        </p:nvSpPr>
        <p:spPr>
          <a:xfrm>
            <a:off x="365760" y="4114800"/>
            <a:ext cx="8412480" cy="731520"/>
          </a:xfrm>
          <a:prstGeom prst="roundRect">
            <a:avLst>
              <a:gd name="adj" fmla="val 12500"/>
            </a:avLst>
          </a:prstGeom>
          <a:solidFill>
            <a:srgbClr val="3C3489"/>
          </a:solidFill>
          <a:ln w="12700">
            <a:solidFill>
              <a:srgbClr val="3C3489"/>
            </a:solidFill>
            <a:prstDash val="solid"/>
          </a:ln>
        </p:spPr>
      </p:sp>
      <p:sp>
        <p:nvSpPr>
          <p:cNvPr id="13" name="Text 11"/>
          <p:cNvSpPr/>
          <p:nvPr/>
        </p:nvSpPr>
        <p:spPr>
          <a:xfrm>
            <a:off x="365760" y="4114800"/>
            <a:ext cx="8412480" cy="731520"/>
          </a:xfrm>
          <a:prstGeom prst="rect">
            <a:avLst/>
          </a:prstGeom>
          <a:noFill/>
          <a:ln/>
        </p:spPr>
        <p:txBody>
          <a:bodyPr wrap="square" lIns="101600" tIns="101600" rIns="101600" bIns="101600"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Teşekkür · TIHM veri seti Imperial College London ve Surrey and Borders Partnership NHS Foundation Trust tarafından sağlanmıştır. Proje danışmanlığı için Dr. Öğr. Üyesi Nurettin Şenyer'e teşekkür ederiz.</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DementIQ — Bitirme Proje Sergisi</dc:title>
  <dc:subject>PptxGenJS Presentation</dc:subject>
  <dc:creator>PptxGenJS</dc:creator>
  <cp:lastModifiedBy>PptxGenJS</cp:lastModifiedBy>
  <cp:revision>1</cp:revision>
  <dcterms:created xsi:type="dcterms:W3CDTF">2026-06-10T06:58:39Z</dcterms:created>
  <dcterms:modified xsi:type="dcterms:W3CDTF">2026-06-10T06:58:39Z</dcterms:modified>
</cp:coreProperties>
</file>